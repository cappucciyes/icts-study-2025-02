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4" r:id="rId3"/>
    <p:sldId id="263" r:id="rId4"/>
    <p:sldId id="281" r:id="rId5"/>
    <p:sldId id="284" r:id="rId6"/>
    <p:sldId id="285" r:id="rId7"/>
    <p:sldId id="280" r:id="rId8"/>
    <p:sldId id="286" r:id="rId9"/>
    <p:sldId id="287" r:id="rId10"/>
    <p:sldId id="288" r:id="rId11"/>
    <p:sldId id="275" r:id="rId12"/>
    <p:sldId id="278" r:id="rId13"/>
    <p:sldId id="277" r:id="rId14"/>
    <p:sldId id="282" r:id="rId15"/>
    <p:sldId id="283" r:id="rId16"/>
    <p:sldId id="279" r:id="rId17"/>
    <p:sldId id="265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AC852-3943-4D51-80F6-C4AAF313C63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BDA249-7C39-4352-9E45-C2A700C6EF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437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91600-1290-79B0-79CC-7E2CFBA37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8C8A10-28B2-6B33-723A-C8228B0D4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DFAC2E-4229-0574-0B42-75CD03D4B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549B39-723D-8DC0-4E9D-EFFAF1E2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783DE1-650A-36F6-6C03-CDFDC6EBA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812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49DE04-2E55-0B3E-F3C6-D33158984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92656D-974E-264F-566D-87DD7CA1F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808C91-5F7C-2B73-5157-2DFEE482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BBA6AD-96B7-F377-55EF-A2DBD7727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7D60F2-8AD5-06E6-9767-27C8FCBC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606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E23D1-089F-9926-9265-0A911F9A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3E1A64-96C0-855D-2661-A0FEFF369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6EFFDC-E59A-31C5-809B-72C1D2CD9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9C5ECF-1952-9C24-4222-DE41CC402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B4F296-578E-79BD-2D9B-B6647C818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888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85772-9DD8-F373-2D4C-4174C8AA8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92EF5-CA5C-79CC-71E3-B68626ED74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3A2304-0129-4DC7-6BE8-125BB259D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1789E6-D8EC-7B16-E02C-EFAA587A8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E5B10E-627D-7A59-3BD4-7B7EDC0FC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D17AE4-CDD5-B47F-CD44-8E54175A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920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1898D-D98F-C86E-2F24-743E8C056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AF86ED-8CD1-3ADE-35D1-40DD3646A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D91F8E-CCA0-FAAF-6050-57CB6B266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49BED6-C560-D0B7-3083-9C946B5602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4ABFF0-3842-262E-DBE1-C0FDD14E19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29AF9FE-E75B-B59B-771A-C19D60C5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830B46-E655-777C-DD63-EC05DC46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C7D3442-D774-6A4B-962B-F495F8F1F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631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DC544B-5293-1FFF-20E0-3B48D350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81B5F6-E3E9-B6AA-D3F4-5F44FE374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63984E-5335-A94F-40FF-B8860ACEE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B2E13A-C8CB-6C60-82D5-4AB56A8FE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611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AA4128-7C05-07B2-0AB7-F5EA709DB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D5B2FD-0635-9306-63B7-495C25F42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7B179B-2404-8F11-7315-3856C2D0E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255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8B9E0D-A985-199A-30C9-5455E9636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3E9A32-6091-B4D7-2A95-56593DE1B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0A524D-AFA8-E687-BC6D-E4E1D5B3D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6CB03-E1F3-3453-4B15-56D3145D2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1CADDD-B757-E3AD-A0DE-335854488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44C2ED-274C-A116-62F3-B5889897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85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76A49B-7C3A-795A-D97A-F1B0DCBA5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46C7ED-D1EA-E03C-62E6-5D5322C93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C0C8E8-83F5-7D6E-94BF-3A6899179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B2579B-256E-AA8A-B1F6-C26F3A261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CBC8E4-8FDF-8572-035B-FEA7EA877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AF9882-077A-CAC2-F083-8E23ABEE8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514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F54073-27B2-5F4F-4C1D-A5359877A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4B4666-EB99-D106-12F4-BF4B4617F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7002B9-6BF5-17F8-BCB8-D18910981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4B879F-6566-0BDF-0D4B-5C3BC2E31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6FD1B1-B85D-94DF-6190-5EDF3B0F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56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33C1A51-AA07-93A1-B2BA-1AE95DD7E6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4E7333-0723-2509-4B18-0ED9653ED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EEE390-8EFE-325F-4E92-34B63FFE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E0D9B9-17B9-3E9A-ECC0-B8B8C280B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7722C0-040D-30ED-49D5-D39296C3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177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B036321-93C5-32E8-43F1-95B9D8E48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93689C-20E1-2835-A92B-5B87C4747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2D60AD-4BEF-863F-CE9F-4A934AA1C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BF470F-2FD6-C59C-DC61-3266505C3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5973C-09A2-0401-1519-0C4272B6D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04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boj.kr/f09890ec769c4f8aa99735c633d1ceb8" TargetMode="External"/><Relationship Id="rId2" Type="http://schemas.openxmlformats.org/officeDocument/2006/relationships/hyperlink" Target="https://www.acmicpc.net/problem/17219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boj.kr/ed656bb2f5bb4c829844d6e20c0a7594" TargetMode="External"/><Relationship Id="rId2" Type="http://schemas.openxmlformats.org/officeDocument/2006/relationships/hyperlink" Target="https://www.acmicpc.net/problem/14425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pp/algorithm/make_heap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boj.kr/274b68344ec649b69253dc000caa7248" TargetMode="External"/><Relationship Id="rId2" Type="http://schemas.openxmlformats.org/officeDocument/2006/relationships/hyperlink" Target="https://www.acmicpc.net/problem/11279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micpc.net/step/13" TargetMode="External"/><Relationship Id="rId2" Type="http://schemas.openxmlformats.org/officeDocument/2006/relationships/hyperlink" Target="https://www.acmicpc.net/step/4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DF43CA-A23F-1B98-C63A-0791B16D14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자구</a:t>
            </a:r>
            <a:r>
              <a:rPr lang="en-US" altLang="ko-KR" dirty="0"/>
              <a:t>&amp;</a:t>
            </a:r>
            <a:r>
              <a:rPr lang="ko-KR" altLang="en-US" dirty="0"/>
              <a:t>알고 스터디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7C2082-1E01-80C1-C0E4-FDA571708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0" y="3619291"/>
            <a:ext cx="8229600" cy="1655762"/>
          </a:xfrm>
        </p:spPr>
        <p:txBody>
          <a:bodyPr/>
          <a:lstStyle/>
          <a:p>
            <a:r>
              <a:rPr lang="ko-KR" altLang="en-US" dirty="0"/>
              <a:t>집합과 맵</a:t>
            </a:r>
            <a:endParaRPr lang="en-US" altLang="ko-KR" dirty="0"/>
          </a:p>
          <a:p>
            <a:r>
              <a:rPr lang="ko-KR" altLang="en-US" dirty="0"/>
              <a:t>우선순위 큐</a:t>
            </a:r>
          </a:p>
        </p:txBody>
      </p:sp>
    </p:spTree>
    <p:extLst>
      <p:ext uri="{BB962C8B-B14F-4D97-AF65-F5344CB8AC3E}">
        <p14:creationId xmlns:p14="http://schemas.microsoft.com/office/powerpoint/2010/main" val="139005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18C4E-ACF0-2C0D-5AA3-7AE77492C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2F0DB-F042-F45C-530E-65453CFDF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B0450C-EE9A-3ABC-9CEC-E77FB89D3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Key – Value</a:t>
            </a:r>
            <a:r>
              <a:rPr lang="ko-KR" altLang="en-US" sz="2400" dirty="0"/>
              <a:t>로 데이터를 저장하는 자료구조</a:t>
            </a:r>
            <a:endParaRPr lang="en-US" altLang="ko-KR" sz="2400" dirty="0"/>
          </a:p>
          <a:p>
            <a:pPr lvl="1"/>
            <a:r>
              <a:rPr lang="en-US" altLang="ko-KR" sz="2000" dirty="0"/>
              <a:t>Key</a:t>
            </a:r>
            <a:r>
              <a:rPr lang="ko-KR" altLang="en-US" sz="2000" dirty="0"/>
              <a:t> </a:t>
            </a:r>
            <a:r>
              <a:rPr lang="en-US" altLang="ko-KR" sz="2000" dirty="0"/>
              <a:t>:</a:t>
            </a:r>
            <a:r>
              <a:rPr lang="ko-KR" altLang="en-US" sz="2000" dirty="0"/>
              <a:t> 중복되지 않는 값</a:t>
            </a:r>
            <a:endParaRPr lang="en-US" altLang="ko-KR" sz="2000" dirty="0"/>
          </a:p>
          <a:p>
            <a:pPr lvl="1"/>
            <a:r>
              <a:rPr lang="en-US" altLang="ko-KR" sz="2000" dirty="0"/>
              <a:t>Value : Key</a:t>
            </a:r>
            <a:r>
              <a:rPr lang="ko-KR" altLang="en-US" sz="2000" dirty="0"/>
              <a:t>값에 할당되는 값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원하는 정보 </a:t>
            </a:r>
            <a:r>
              <a:rPr lang="en-US" altLang="ko-KR" sz="2400" dirty="0"/>
              <a:t>“value”</a:t>
            </a:r>
            <a:r>
              <a:rPr lang="ko-KR" altLang="en-US" sz="2400" dirty="0"/>
              <a:t>에 서로 안 겹치는 이름</a:t>
            </a:r>
            <a:r>
              <a:rPr lang="en-US" altLang="ko-KR" sz="2400" dirty="0"/>
              <a:t> “key”</a:t>
            </a:r>
            <a:r>
              <a:rPr lang="ko-KR" altLang="en-US" sz="2400" dirty="0"/>
              <a:t>를 부여하는 것과 똑같이 생각하면 편함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반대로</a:t>
            </a:r>
            <a:r>
              <a:rPr lang="en-US" altLang="ko-KR" sz="2400" dirty="0"/>
              <a:t>, </a:t>
            </a:r>
            <a:r>
              <a:rPr lang="ko-KR" altLang="en-US" sz="2400" dirty="0"/>
              <a:t>특정 정보 </a:t>
            </a:r>
            <a:r>
              <a:rPr lang="en-US" altLang="ko-KR" sz="2400" dirty="0"/>
              <a:t>“key”</a:t>
            </a:r>
            <a:r>
              <a:rPr lang="ko-KR" altLang="en-US" sz="2400" dirty="0"/>
              <a:t>에 또다른 정보를 연결 시키는 것처럼 생각하면 편함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010573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C51AD3-338F-0E5E-C287-A0491365D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42E3CA-E15E-0DE9-3C98-8C69233AA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C++</a:t>
            </a:r>
            <a:r>
              <a:rPr lang="ko-KR" altLang="en-US" sz="2400" dirty="0"/>
              <a:t>에서 종류 </a:t>
            </a:r>
            <a:r>
              <a:rPr lang="en-US" altLang="ko-KR" sz="2400" dirty="0"/>
              <a:t>3</a:t>
            </a:r>
            <a:r>
              <a:rPr lang="ko-KR" altLang="en-US" sz="2400"/>
              <a:t>가지</a:t>
            </a:r>
            <a:endParaRPr lang="en-US" altLang="ko-KR" sz="2400" dirty="0"/>
          </a:p>
          <a:p>
            <a:pPr lvl="1"/>
            <a:r>
              <a:rPr lang="en-US" altLang="ko-KR" sz="2000" dirty="0"/>
              <a:t>map : key </a:t>
            </a:r>
            <a:r>
              <a:rPr lang="ko-KR" altLang="en-US" sz="2000" dirty="0"/>
              <a:t>값들이 오름차순으로 정렬되어 있고</a:t>
            </a:r>
            <a:r>
              <a:rPr lang="en-US" altLang="ko-KR" sz="2000" dirty="0"/>
              <a:t>, key </a:t>
            </a:r>
            <a:r>
              <a:rPr lang="ko-KR" altLang="en-US" sz="2000" dirty="0"/>
              <a:t>값들을 오름차순을 유지</a:t>
            </a:r>
            <a:endParaRPr lang="en-US" altLang="ko-KR" sz="2000" dirty="0"/>
          </a:p>
          <a:p>
            <a:pPr lvl="1"/>
            <a:r>
              <a:rPr lang="en-US" altLang="ko-KR" sz="2000" dirty="0" err="1"/>
              <a:t>unordered_map</a:t>
            </a:r>
            <a:r>
              <a:rPr lang="en-US" altLang="ko-KR" sz="2000" dirty="0"/>
              <a:t> : </a:t>
            </a:r>
            <a:r>
              <a:rPr lang="ko-KR" altLang="en-US" sz="2000" dirty="0" err="1"/>
              <a:t>해쉬</a:t>
            </a:r>
            <a:r>
              <a:rPr lang="ko-KR" altLang="en-US" sz="2000" dirty="0"/>
              <a:t> 테이블</a:t>
            </a:r>
            <a:endParaRPr lang="en-US" altLang="ko-KR" sz="2000" dirty="0"/>
          </a:p>
          <a:p>
            <a:pPr lvl="1"/>
            <a:r>
              <a:rPr lang="en-US" altLang="ko-KR" sz="2000" dirty="0"/>
              <a:t>multimap</a:t>
            </a:r>
            <a:r>
              <a:rPr lang="ko-KR" altLang="en-US" sz="2000" dirty="0"/>
              <a:t> </a:t>
            </a:r>
            <a:r>
              <a:rPr lang="en-US" altLang="ko-KR" sz="2000" dirty="0"/>
              <a:t>:</a:t>
            </a:r>
            <a:r>
              <a:rPr lang="ko-KR" altLang="en-US" sz="2000" dirty="0"/>
              <a:t> 중복 가능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 err="1"/>
              <a:t>맵의</a:t>
            </a:r>
            <a:r>
              <a:rPr lang="ko-KR" altLang="en-US" sz="2400" dirty="0"/>
              <a:t> 의의</a:t>
            </a:r>
            <a:r>
              <a:rPr lang="en-US" altLang="ko-KR" sz="2400" dirty="0"/>
              <a:t>: </a:t>
            </a:r>
            <a:r>
              <a:rPr lang="ko-KR" altLang="en-US" sz="2400" dirty="0"/>
              <a:t>두 정보를 연관 시켜 정보를 저장할 수 있다</a:t>
            </a:r>
            <a:r>
              <a:rPr lang="en-US" altLang="ko-KR" sz="2400" dirty="0"/>
              <a:t>.</a:t>
            </a:r>
          </a:p>
          <a:p>
            <a:pPr lvl="1"/>
            <a:r>
              <a:rPr lang="ko-KR" altLang="en-US" sz="2000" dirty="0"/>
              <a:t>예시</a:t>
            </a:r>
            <a:r>
              <a:rPr lang="en-US" altLang="ko-KR" sz="2000" dirty="0"/>
              <a:t>) </a:t>
            </a:r>
            <a:r>
              <a:rPr lang="ko-KR" altLang="en-US" sz="2000" dirty="0"/>
              <a:t>음식 주문 정보 </a:t>
            </a:r>
            <a:r>
              <a:rPr lang="en-US" altLang="ko-KR" sz="2000" dirty="0"/>
              <a:t>key:</a:t>
            </a:r>
            <a:r>
              <a:rPr lang="ko-KR" altLang="en-US" sz="2000" dirty="0"/>
              <a:t>주문한 사람</a:t>
            </a:r>
            <a:r>
              <a:rPr lang="en-US" altLang="ko-KR" sz="2000" dirty="0"/>
              <a:t>, value: </a:t>
            </a:r>
            <a:r>
              <a:rPr lang="ko-KR" altLang="en-US" sz="2000" dirty="0"/>
              <a:t>주문한 음식</a:t>
            </a:r>
            <a:endParaRPr lang="en-US" altLang="ko-KR" sz="2000" dirty="0"/>
          </a:p>
          <a:p>
            <a:pPr lvl="1"/>
            <a:r>
              <a:rPr lang="ko-KR" altLang="en-US" sz="2000" dirty="0"/>
              <a:t>철수</a:t>
            </a:r>
            <a:r>
              <a:rPr lang="en-US" altLang="ko-KR" sz="2000" dirty="0"/>
              <a:t>: </a:t>
            </a:r>
            <a:r>
              <a:rPr lang="ko-KR" altLang="en-US" sz="2000" dirty="0"/>
              <a:t>파스타</a:t>
            </a:r>
            <a:endParaRPr lang="en-US" altLang="ko-KR" sz="2000" dirty="0"/>
          </a:p>
          <a:p>
            <a:pPr lvl="1"/>
            <a:r>
              <a:rPr lang="ko-KR" altLang="en-US" sz="2000" dirty="0"/>
              <a:t>민수</a:t>
            </a:r>
            <a:r>
              <a:rPr lang="en-US" altLang="ko-KR" sz="2000" dirty="0"/>
              <a:t>: </a:t>
            </a:r>
            <a:r>
              <a:rPr lang="ko-KR" altLang="en-US" sz="2000" dirty="0"/>
              <a:t>파스타</a:t>
            </a:r>
            <a:endParaRPr lang="en-US" altLang="ko-KR" sz="2000" dirty="0"/>
          </a:p>
          <a:p>
            <a:pPr lvl="1"/>
            <a:r>
              <a:rPr lang="ko-KR" altLang="en-US" sz="2000" dirty="0"/>
              <a:t>영희</a:t>
            </a:r>
            <a:r>
              <a:rPr lang="en-US" altLang="ko-KR" sz="2000" dirty="0"/>
              <a:t>: </a:t>
            </a:r>
            <a:r>
              <a:rPr lang="ko-KR" altLang="en-US" sz="2000" dirty="0"/>
              <a:t>삼겹살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057712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6357B-7133-D4F3-4560-2C371B762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204923-4978-5665-9E16-430A99BC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50375D-D2B4-EF54-9009-5C8AACBE6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1. </a:t>
            </a:r>
            <a:r>
              <a:rPr lang="ko-KR" altLang="en-US" sz="2400" dirty="0"/>
              <a:t>선언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map&lt;string, int&gt; student; 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1-1. </a:t>
            </a:r>
            <a:r>
              <a:rPr lang="ko-KR" altLang="en-US" sz="2400" dirty="0"/>
              <a:t>선언 및 초기화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map&lt;string, int&gt; student = {{"</a:t>
            </a:r>
            <a:r>
              <a:rPr lang="ko-KR" altLang="en-US" sz="2400" dirty="0"/>
              <a:t>철수</a:t>
            </a:r>
            <a:r>
              <a:rPr lang="en-US" altLang="ko-KR" sz="2400" dirty="0"/>
              <a:t>", 123456},{"</a:t>
            </a:r>
            <a:r>
              <a:rPr lang="ko-KR" altLang="en-US" sz="2400" dirty="0"/>
              <a:t>민수</a:t>
            </a:r>
            <a:r>
              <a:rPr lang="en-US" altLang="ko-KR" sz="2400" dirty="0"/>
              <a:t>", 234567}};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2. </a:t>
            </a:r>
            <a:r>
              <a:rPr lang="ko-KR" altLang="en-US" sz="2400" dirty="0"/>
              <a:t>값 접근</a:t>
            </a:r>
          </a:p>
          <a:p>
            <a:pPr marL="0" indent="0">
              <a:buNone/>
            </a:pPr>
            <a:r>
              <a:rPr lang="en-US" altLang="ko-KR" sz="2400" dirty="0" err="1"/>
              <a:t>cout</a:t>
            </a:r>
            <a:r>
              <a:rPr lang="en-US" altLang="ko-KR" sz="2400" dirty="0"/>
              <a:t> &lt;&lt; "</a:t>
            </a:r>
            <a:r>
              <a:rPr lang="ko-KR" altLang="en-US" sz="2400" dirty="0"/>
              <a:t>철수 학번</a:t>
            </a:r>
            <a:r>
              <a:rPr lang="en-US" altLang="ko-KR" sz="2400" dirty="0"/>
              <a:t>: " &lt;&lt; student["</a:t>
            </a:r>
            <a:r>
              <a:rPr lang="ko-KR" altLang="en-US" sz="2400" dirty="0"/>
              <a:t>철수</a:t>
            </a:r>
            <a:r>
              <a:rPr lang="en-US" altLang="ko-KR" sz="2400" dirty="0"/>
              <a:t>"] &lt;&lt; </a:t>
            </a:r>
            <a:r>
              <a:rPr lang="en-US" altLang="ko-KR" sz="2400" dirty="0" err="1"/>
              <a:t>endl</a:t>
            </a:r>
            <a:r>
              <a:rPr lang="en-US" altLang="ko-KR" sz="2400" dirty="0"/>
              <a:t>;</a:t>
            </a:r>
          </a:p>
          <a:p>
            <a:pPr marL="0" indent="0">
              <a:buNone/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357247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1B9FA-65CB-EA38-13A6-B9D80A95F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0EBD2-9D38-2D93-45D0-1FFFD33E8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A22B6E-BFD2-445A-977D-CC215A68A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ko-KR" dirty="0"/>
              <a:t>삽입</a:t>
            </a:r>
            <a:endParaRPr lang="ko-KR" altLang="ko-KR" sz="2400" dirty="0"/>
          </a:p>
          <a:p>
            <a:pPr marL="0" indent="0">
              <a:buNone/>
            </a:pPr>
            <a:r>
              <a:rPr lang="en-US" altLang="ko-KR" dirty="0"/>
              <a:t>student["</a:t>
            </a:r>
            <a:r>
              <a:rPr lang="ko-KR" altLang="ko-KR" dirty="0"/>
              <a:t>지수</a:t>
            </a:r>
            <a:r>
              <a:rPr lang="en-US" altLang="ko-KR" dirty="0"/>
              <a:t>"] = 456789;  // </a:t>
            </a:r>
            <a:r>
              <a:rPr lang="ko-KR" altLang="ko-KR" dirty="0"/>
              <a:t>새로운 원소 삽입</a:t>
            </a:r>
            <a:endParaRPr lang="ko-KR" altLang="ko-KR" sz="2400" dirty="0"/>
          </a:p>
          <a:p>
            <a:pPr marL="0" indent="0">
              <a:buNone/>
            </a:pPr>
            <a:r>
              <a:rPr lang="en-US" altLang="ko-KR" dirty="0" err="1"/>
              <a:t>student.insert</a:t>
            </a:r>
            <a:r>
              <a:rPr lang="en-US" altLang="ko-KR" dirty="0"/>
              <a:t>({"</a:t>
            </a:r>
            <a:r>
              <a:rPr lang="ko-KR" altLang="ko-KR" dirty="0"/>
              <a:t>하나</a:t>
            </a:r>
            <a:r>
              <a:rPr lang="en-US" altLang="ko-KR" dirty="0"/>
              <a:t>", 567890}); // insert</a:t>
            </a:r>
            <a:r>
              <a:rPr lang="ko-KR" altLang="ko-KR" dirty="0"/>
              <a:t>로도 가능</a:t>
            </a:r>
            <a:endParaRPr lang="en-US" altLang="ko-KR" dirty="0"/>
          </a:p>
          <a:p>
            <a:pPr marL="0" indent="0">
              <a:buNone/>
            </a:pPr>
            <a:endParaRPr lang="ko-KR" altLang="ko-KR" sz="2400" dirty="0"/>
          </a:p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ko-KR" dirty="0"/>
              <a:t>삭제</a:t>
            </a:r>
            <a:endParaRPr lang="ko-KR" altLang="ko-KR" sz="2400" dirty="0"/>
          </a:p>
          <a:p>
            <a:pPr marL="0" indent="0">
              <a:buNone/>
            </a:pPr>
            <a:r>
              <a:rPr lang="en-US" altLang="ko-KR" dirty="0" err="1"/>
              <a:t>student.erase</a:t>
            </a:r>
            <a:r>
              <a:rPr lang="en-US" altLang="ko-KR" dirty="0"/>
              <a:t>("</a:t>
            </a:r>
            <a:r>
              <a:rPr lang="ko-KR" altLang="ko-KR" dirty="0"/>
              <a:t>민수</a:t>
            </a:r>
            <a:r>
              <a:rPr lang="en-US" altLang="ko-KR" dirty="0"/>
              <a:t>"); // key</a:t>
            </a:r>
            <a:r>
              <a:rPr lang="ko-KR" altLang="ko-KR" dirty="0"/>
              <a:t>가 </a:t>
            </a:r>
            <a:r>
              <a:rPr lang="en-US" altLang="ko-KR" dirty="0"/>
              <a:t>"</a:t>
            </a:r>
            <a:r>
              <a:rPr lang="ko-KR" altLang="ko-KR" dirty="0"/>
              <a:t>민수</a:t>
            </a:r>
            <a:r>
              <a:rPr lang="en-US" altLang="ko-KR" dirty="0"/>
              <a:t>"</a:t>
            </a:r>
            <a:r>
              <a:rPr lang="ko-KR" altLang="ko-KR" dirty="0"/>
              <a:t>인 원소 삭제</a:t>
            </a:r>
            <a:endParaRPr lang="ko-KR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dirty="0"/>
              <a:t>5. </a:t>
            </a:r>
            <a:r>
              <a:rPr lang="ko-KR" altLang="en-US" dirty="0"/>
              <a:t>원소 체크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err="1"/>
              <a:t>Student.count</a:t>
            </a:r>
            <a:r>
              <a:rPr lang="en-US" altLang="ko-KR" dirty="0"/>
              <a:t>(“</a:t>
            </a:r>
            <a:r>
              <a:rPr lang="ko-KR" altLang="en-US" dirty="0"/>
              <a:t>민수</a:t>
            </a:r>
            <a:r>
              <a:rPr lang="en-US" altLang="ko-KR" dirty="0"/>
              <a:t>”); // key</a:t>
            </a:r>
            <a:r>
              <a:rPr lang="ko-KR" altLang="en-US" dirty="0"/>
              <a:t>가 </a:t>
            </a:r>
            <a:r>
              <a:rPr lang="en-US" altLang="ko-KR" dirty="0"/>
              <a:t>“</a:t>
            </a:r>
            <a:r>
              <a:rPr lang="ko-KR" altLang="en-US" dirty="0"/>
              <a:t>민수</a:t>
            </a:r>
            <a:r>
              <a:rPr lang="en-US" altLang="ko-KR" dirty="0"/>
              <a:t>“</a:t>
            </a:r>
            <a:r>
              <a:rPr lang="ko-KR" altLang="en-US" dirty="0"/>
              <a:t>인 원소가 있으면 </a:t>
            </a:r>
            <a:r>
              <a:rPr lang="en-US" altLang="ko-KR" dirty="0"/>
              <a:t>1, </a:t>
            </a:r>
            <a:r>
              <a:rPr lang="ko-KR" altLang="en-US" dirty="0"/>
              <a:t>없으면 </a:t>
            </a:r>
            <a:r>
              <a:rPr lang="en-US" altLang="ko-KR" dirty="0"/>
              <a:t>0 </a:t>
            </a:r>
            <a:r>
              <a:rPr lang="ko-KR" altLang="en-US" dirty="0"/>
              <a:t>반환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16178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ECB90-80E2-4892-3BB5-70C5DCA9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155D2-46BB-FAD5-0725-09703F5F2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B5D897-5B41-4727-0C8F-6152052D9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예제 문제 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2"/>
              </a:rPr>
              <a:t>https://www.acmicpc.net/problem/17219</a:t>
            </a:r>
            <a:endParaRPr lang="en-US" altLang="ko-KR" sz="2400" dirty="0"/>
          </a:p>
          <a:p>
            <a:pPr lvl="1"/>
            <a:r>
              <a:rPr lang="en-US" altLang="ko-KR" sz="2000" dirty="0"/>
              <a:t>C++ </a:t>
            </a:r>
            <a:r>
              <a:rPr lang="ko-KR" altLang="en-US" sz="2000" dirty="0"/>
              <a:t>예시 답안</a:t>
            </a:r>
            <a:r>
              <a:rPr lang="en-US" altLang="ko-KR" sz="2000" dirty="0"/>
              <a:t>: </a:t>
            </a:r>
            <a:r>
              <a:rPr lang="en-US" altLang="ko-KR" sz="2000" dirty="0">
                <a:hlinkClick r:id="rId3"/>
              </a:rPr>
              <a:t>http://boj.kr/f09890ec769c4f8aa99735c633d1ceb8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610033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E9AAD-02A1-EF5A-277D-CBAD00DBE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2C496D-63FE-3271-ADDE-0A4F34755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EFF485-F901-4603-5140-E5C36A7B1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2400" dirty="0"/>
              <a:t>영문명칭이 </a:t>
            </a:r>
            <a:r>
              <a:rPr lang="en-US" altLang="ko-KR" sz="2400" dirty="0"/>
              <a:t>Set</a:t>
            </a:r>
            <a:r>
              <a:rPr lang="ko-KR" altLang="en-US" sz="2400" dirty="0"/>
              <a:t>이라 셋이라 부르기도 함</a:t>
            </a:r>
            <a:endParaRPr lang="en-US" altLang="ko-KR" sz="2400" dirty="0"/>
          </a:p>
          <a:p>
            <a:r>
              <a:rPr lang="ko-KR" altLang="en-US" sz="2400" dirty="0"/>
              <a:t>중복 없는 정보의 모음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이럴 때 편리하다</a:t>
            </a:r>
            <a:endParaRPr lang="en-US" altLang="ko-KR" sz="2400" dirty="0"/>
          </a:p>
          <a:p>
            <a:pPr lvl="1"/>
            <a:r>
              <a:rPr lang="ko-KR" altLang="en-US" sz="2000" dirty="0"/>
              <a:t>중복 없는 원소 모음을 관리할 때</a:t>
            </a:r>
            <a:endParaRPr lang="en-US" altLang="ko-KR" sz="2000" dirty="0"/>
          </a:p>
          <a:p>
            <a:pPr lvl="1"/>
            <a:r>
              <a:rPr lang="ko-KR" altLang="en-US" sz="2000" dirty="0"/>
              <a:t>특정 값 존재 여부를 자주 확인할 때</a:t>
            </a:r>
            <a:endParaRPr lang="en-US" altLang="ko-KR" dirty="0"/>
          </a:p>
          <a:p>
            <a:pPr lvl="1"/>
            <a:r>
              <a:rPr lang="en-US" altLang="ko-KR" sz="2000" dirty="0"/>
              <a:t>(C++ </a:t>
            </a:r>
            <a:r>
              <a:rPr lang="ko-KR" altLang="en-US" sz="2000" dirty="0"/>
              <a:t>한정</a:t>
            </a:r>
            <a:r>
              <a:rPr lang="en-US" altLang="ko-KR" sz="2000" dirty="0"/>
              <a:t>) </a:t>
            </a:r>
            <a:r>
              <a:rPr lang="ko-KR" altLang="en-US" sz="2000" dirty="0"/>
              <a:t>원소를 정렬된 상태로 관리하고 싶을 때</a:t>
            </a:r>
            <a:r>
              <a:rPr lang="en-US" altLang="ko-KR" sz="2000" dirty="0"/>
              <a:t>.</a:t>
            </a:r>
          </a:p>
          <a:p>
            <a:endParaRPr lang="en-US" altLang="ko-KR" sz="2400" dirty="0"/>
          </a:p>
          <a:p>
            <a:r>
              <a:rPr lang="ko-KR" altLang="en-US" sz="2400" dirty="0"/>
              <a:t>여담</a:t>
            </a:r>
            <a:r>
              <a:rPr lang="en-US" altLang="ko-KR" sz="2400" dirty="0"/>
              <a:t> (C++ </a:t>
            </a:r>
            <a:r>
              <a:rPr lang="ko-KR" altLang="en-US" sz="2400" dirty="0"/>
              <a:t>한정</a:t>
            </a:r>
            <a:r>
              <a:rPr lang="en-US" altLang="ko-KR" sz="2400" dirty="0"/>
              <a:t>)</a:t>
            </a:r>
          </a:p>
          <a:p>
            <a:pPr lvl="1"/>
            <a:r>
              <a:rPr lang="ko-KR" altLang="en-US" sz="2000" dirty="0"/>
              <a:t>원소가 정렬된 상태가 아니어도 될 때 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unordered_set</a:t>
            </a:r>
            <a:r>
              <a:rPr lang="en-US" altLang="ko-KR" sz="2000" dirty="0"/>
              <a:t> </a:t>
            </a:r>
            <a:r>
              <a:rPr lang="ko-KR" altLang="en-US" sz="2000" dirty="0"/>
              <a:t>사용</a:t>
            </a:r>
            <a:endParaRPr lang="en-US" altLang="ko-KR" sz="2000" dirty="0"/>
          </a:p>
          <a:p>
            <a:pPr lvl="1"/>
            <a:r>
              <a:rPr lang="ko-KR" altLang="en-US" sz="2000" dirty="0"/>
              <a:t>여러 원소가 중복해서 들어올 때 </a:t>
            </a:r>
            <a:r>
              <a:rPr lang="en-US" altLang="ko-KR" sz="2000" dirty="0"/>
              <a:t>: multiset </a:t>
            </a:r>
            <a:r>
              <a:rPr lang="ko-KR" altLang="en-US" sz="2000" dirty="0"/>
              <a:t>사용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523807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77BC7-F5B3-6FE9-4A8A-08B4CA650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B80871-E03D-5D7B-05C5-ABC20D705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C13E68-1248-7B26-451E-321FA5BDC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1. </a:t>
            </a:r>
            <a:r>
              <a:rPr lang="ko-KR" altLang="en-US" sz="2000" dirty="0"/>
              <a:t>선언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set&lt;int&gt; s;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1-1. </a:t>
            </a:r>
            <a:r>
              <a:rPr lang="ko-KR" altLang="en-US" sz="2000" dirty="0"/>
              <a:t>선언 </a:t>
            </a:r>
            <a:r>
              <a:rPr lang="en-US" altLang="ko-KR" sz="2000" dirty="0"/>
              <a:t>+ </a:t>
            </a:r>
            <a:r>
              <a:rPr lang="ko-KR" altLang="en-US" sz="2000" dirty="0"/>
              <a:t>초기화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set&lt;int&gt; s = {1,2,4,4}; // </a:t>
            </a:r>
            <a:r>
              <a:rPr lang="ko-KR" altLang="en-US" sz="2000" dirty="0"/>
              <a:t>중복 → 하나만 남김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// </a:t>
            </a:r>
            <a:r>
              <a:rPr lang="ko-KR" altLang="en-US" sz="2000" dirty="0"/>
              <a:t>삽입</a:t>
            </a:r>
          </a:p>
          <a:p>
            <a:pPr marL="0" indent="0">
              <a:buNone/>
            </a:pPr>
            <a:r>
              <a:rPr lang="en-US" altLang="ko-KR" sz="2000" dirty="0" err="1"/>
              <a:t>s.insert</a:t>
            </a:r>
            <a:r>
              <a:rPr lang="en-US" altLang="ko-KR" sz="2000" dirty="0"/>
              <a:t>(5);</a:t>
            </a:r>
          </a:p>
          <a:p>
            <a:pPr marL="0" indent="0">
              <a:buNone/>
            </a:pPr>
            <a:r>
              <a:rPr lang="en-US" altLang="ko-KR" sz="2000" dirty="0" err="1"/>
              <a:t>s.insert</a:t>
            </a:r>
            <a:r>
              <a:rPr lang="en-US" altLang="ko-KR" sz="2000" dirty="0"/>
              <a:t>(5); // </a:t>
            </a:r>
            <a:r>
              <a:rPr lang="ko-KR" altLang="en-US" sz="2000" dirty="0"/>
              <a:t>중복 → 무시됨</a:t>
            </a:r>
          </a:p>
          <a:p>
            <a:pPr marL="0" indent="0">
              <a:buNone/>
            </a:pPr>
            <a:r>
              <a:rPr lang="en-US" altLang="ko-KR" sz="2000" dirty="0" err="1"/>
              <a:t>s.insert</a:t>
            </a:r>
            <a:r>
              <a:rPr lang="en-US" altLang="ko-KR" sz="2000" dirty="0"/>
              <a:t>(3);</a:t>
            </a:r>
          </a:p>
        </p:txBody>
      </p:sp>
    </p:spTree>
    <p:extLst>
      <p:ext uri="{BB962C8B-B14F-4D97-AF65-F5344CB8AC3E}">
        <p14:creationId xmlns:p14="http://schemas.microsoft.com/office/powerpoint/2010/main" val="1751095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C6DB5-4D3E-0B57-F743-0B1598731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1E1A8B-8A29-90E6-E6E2-4652583C8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044FE6-6B77-94F0-5775-6B15E9080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// </a:t>
            </a:r>
            <a:r>
              <a:rPr lang="ko-KR" altLang="en-US" sz="2000" dirty="0"/>
              <a:t>탐색</a:t>
            </a:r>
          </a:p>
          <a:p>
            <a:pPr marL="0" indent="0">
              <a:buNone/>
            </a:pPr>
            <a:r>
              <a:rPr lang="en-US" altLang="ko-KR" sz="2000" dirty="0"/>
              <a:t>if (</a:t>
            </a:r>
            <a:r>
              <a:rPr lang="en-US" altLang="ko-KR" sz="2000" dirty="0" err="1"/>
              <a:t>s.find</a:t>
            </a:r>
            <a:r>
              <a:rPr lang="en-US" altLang="ko-KR" sz="2000" dirty="0"/>
              <a:t>(3) != </a:t>
            </a:r>
            <a:r>
              <a:rPr lang="en-US" altLang="ko-KR" sz="2000" dirty="0" err="1"/>
              <a:t>s.end</a:t>
            </a:r>
            <a:r>
              <a:rPr lang="en-US" altLang="ko-KR" sz="2000" dirty="0"/>
              <a:t>()) {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en-US" altLang="ko-KR" sz="2000" dirty="0" err="1"/>
              <a:t>cout</a:t>
            </a:r>
            <a:r>
              <a:rPr lang="en-US" altLang="ko-KR" sz="2000" dirty="0"/>
              <a:t> &lt;&lt; "3</a:t>
            </a:r>
            <a:r>
              <a:rPr lang="ko-KR" altLang="en-US" sz="2000" dirty="0"/>
              <a:t>은 집합에 포함 되어있습니다</a:t>
            </a:r>
            <a:r>
              <a:rPr lang="en-US" altLang="ko-KR" sz="2000" dirty="0"/>
              <a:t>." &lt;&lt; </a:t>
            </a:r>
            <a:r>
              <a:rPr lang="en-US" altLang="ko-KR" sz="2000" dirty="0" err="1"/>
              <a:t>endl</a:t>
            </a:r>
            <a:r>
              <a:rPr lang="en-US" altLang="ko-KR" sz="2000" dirty="0"/>
              <a:t>;</a:t>
            </a:r>
          </a:p>
          <a:p>
            <a:pPr marL="0" indent="0">
              <a:buNone/>
            </a:pPr>
            <a:r>
              <a:rPr lang="en-US" altLang="ko-KR" sz="2000" dirty="0"/>
              <a:t>}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// </a:t>
            </a:r>
            <a:r>
              <a:rPr lang="ko-KR" altLang="en-US" sz="2000" dirty="0"/>
              <a:t>삭제</a:t>
            </a:r>
          </a:p>
          <a:p>
            <a:pPr marL="0" indent="0">
              <a:buNone/>
            </a:pPr>
            <a:r>
              <a:rPr lang="en-US" altLang="ko-KR" sz="2000" dirty="0" err="1"/>
              <a:t>s.erase</a:t>
            </a:r>
            <a:r>
              <a:rPr lang="en-US" altLang="ko-KR" sz="2000" dirty="0"/>
              <a:t>(1);</a:t>
            </a:r>
          </a:p>
        </p:txBody>
      </p:sp>
    </p:spTree>
    <p:extLst>
      <p:ext uri="{BB962C8B-B14F-4D97-AF65-F5344CB8AC3E}">
        <p14:creationId xmlns:p14="http://schemas.microsoft.com/office/powerpoint/2010/main" val="3548960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D12D0-6CEC-F1FF-7866-25DB43615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293DF0-CCCD-843C-2B3F-7AE391B28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BC03CF-F3D5-7DE1-84C0-9A7A650C9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예제 문제 </a:t>
            </a:r>
            <a:r>
              <a:rPr lang="en-US" altLang="ko-KR" sz="2000" dirty="0"/>
              <a:t>: </a:t>
            </a:r>
            <a:r>
              <a:rPr lang="en-US" altLang="ko-KR" sz="2000" dirty="0">
                <a:hlinkClick r:id="rId2"/>
              </a:rPr>
              <a:t>https://www.acmicpc.net/problem/14425</a:t>
            </a:r>
            <a:endParaRPr lang="en-US" altLang="ko-KR" sz="2000" dirty="0"/>
          </a:p>
          <a:p>
            <a:r>
              <a:rPr lang="en-US" altLang="ko-KR" sz="2000" dirty="0"/>
              <a:t>C++ </a:t>
            </a:r>
            <a:r>
              <a:rPr lang="ko-KR" altLang="en-US" sz="2000" dirty="0"/>
              <a:t>예시 답안</a:t>
            </a:r>
            <a:r>
              <a:rPr lang="en-US" altLang="ko-KR" sz="2000" dirty="0"/>
              <a:t>: </a:t>
            </a:r>
            <a:r>
              <a:rPr lang="en-US" altLang="ko-KR" sz="2000" dirty="0">
                <a:hlinkClick r:id="rId3"/>
              </a:rPr>
              <a:t>http://boj.kr/ed656bb2f5bb4c829844d6e20c0a7594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026187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C952D-72B1-BBDF-EA50-E463515E5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B7553-C3FF-9E8B-2DF1-C54FA44E4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우선순위 큐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8F615B-D259-B6B8-B221-F4E8DE3E4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일반 큐와 달리</a:t>
            </a:r>
            <a:r>
              <a:rPr lang="en-US" altLang="ko-KR" sz="2400" dirty="0"/>
              <a:t>, </a:t>
            </a:r>
            <a:r>
              <a:rPr lang="ko-KR" altLang="en-US" sz="2400" dirty="0"/>
              <a:t>들어온 순서대로 정보를 저장하는 것이 아니라</a:t>
            </a:r>
            <a:r>
              <a:rPr lang="en-US" altLang="ko-KR" sz="2400" dirty="0"/>
              <a:t>, </a:t>
            </a:r>
            <a:r>
              <a:rPr lang="ko-KR" altLang="en-US" sz="2400" dirty="0"/>
              <a:t>우선순위를 기준으로 정보를 저장하는 자료구조</a:t>
            </a:r>
            <a:endParaRPr lang="en-US" altLang="ko-KR" sz="2400" dirty="0"/>
          </a:p>
          <a:p>
            <a:r>
              <a:rPr lang="ko-KR" altLang="en-US" sz="2400" dirty="0"/>
              <a:t>우선순위 큐는 새로운 정보를 삽입</a:t>
            </a:r>
            <a:r>
              <a:rPr lang="en-US" altLang="ko-KR" sz="2400" dirty="0"/>
              <a:t>, </a:t>
            </a:r>
            <a:r>
              <a:rPr lang="ko-KR" altLang="en-US" sz="2400" dirty="0"/>
              <a:t>삭제할 때</a:t>
            </a:r>
            <a:r>
              <a:rPr lang="en-US" altLang="ko-KR" sz="2400" dirty="0"/>
              <a:t> </a:t>
            </a:r>
            <a:r>
              <a:rPr lang="ko-KR" altLang="en-US" sz="2400" dirty="0"/>
              <a:t>우선순위 기준으로 정보를 재정렬 해야함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r>
              <a:rPr lang="ko-KR" altLang="en-US" sz="2400" dirty="0"/>
              <a:t>단</a:t>
            </a:r>
            <a:r>
              <a:rPr lang="en-US" altLang="ko-KR" sz="2400" dirty="0"/>
              <a:t>, </a:t>
            </a:r>
            <a:r>
              <a:rPr lang="ko-KR" altLang="en-US" sz="2400" dirty="0"/>
              <a:t>우선순위 큐를 쓰면서 중요한 것은 가장 앞에 있는 </a:t>
            </a:r>
            <a:r>
              <a:rPr lang="en-US" altLang="ko-KR" sz="2400" dirty="0"/>
              <a:t>(</a:t>
            </a:r>
            <a:r>
              <a:rPr lang="ko-KR" altLang="en-US" sz="2400" dirty="0"/>
              <a:t>또는 가장 위에 있는</a:t>
            </a:r>
            <a:r>
              <a:rPr lang="en-US" altLang="ko-KR" sz="2400" dirty="0"/>
              <a:t>) </a:t>
            </a:r>
            <a:r>
              <a:rPr lang="ko-KR" altLang="en-US" sz="2400" dirty="0"/>
              <a:t>정보가 우선순위가 가장 </a:t>
            </a:r>
            <a:r>
              <a:rPr lang="ko-KR" altLang="en-US" sz="2400"/>
              <a:t>높은 것이여야 한다는 점</a:t>
            </a:r>
            <a:r>
              <a:rPr lang="en-US" altLang="ko-KR" sz="2400"/>
              <a:t>!</a:t>
            </a:r>
            <a:endParaRPr lang="en-US" altLang="ko-KR" sz="2400" dirty="0"/>
          </a:p>
          <a:p>
            <a:pPr lvl="1"/>
            <a:r>
              <a:rPr lang="ko-KR" altLang="en-US" sz="2000" dirty="0"/>
              <a:t>이 말은 다르게 말하면</a:t>
            </a:r>
            <a:r>
              <a:rPr lang="en-US" altLang="ko-KR" sz="2000" dirty="0"/>
              <a:t> </a:t>
            </a:r>
            <a:r>
              <a:rPr lang="ko-KR" altLang="en-US" sz="2000" dirty="0"/>
              <a:t>어떤 자료구조 </a:t>
            </a:r>
            <a:r>
              <a:rPr lang="en-US" altLang="ko-KR" sz="2000" dirty="0"/>
              <a:t>(</a:t>
            </a:r>
            <a:r>
              <a:rPr lang="ko-KR" altLang="en-US" sz="2000" dirty="0"/>
              <a:t>트리</a:t>
            </a:r>
            <a:r>
              <a:rPr lang="en-US" altLang="ko-KR" sz="2000" dirty="0"/>
              <a:t>, </a:t>
            </a:r>
            <a:r>
              <a:rPr lang="ko-KR" altLang="en-US" sz="2000" dirty="0"/>
              <a:t>리스트</a:t>
            </a:r>
            <a:r>
              <a:rPr lang="en-US" altLang="ko-KR" sz="2000" dirty="0"/>
              <a:t> </a:t>
            </a:r>
            <a:r>
              <a:rPr lang="ko-KR" altLang="en-US" sz="2000" dirty="0"/>
              <a:t>등등</a:t>
            </a:r>
            <a:r>
              <a:rPr lang="en-US" altLang="ko-KR" sz="2000" dirty="0"/>
              <a:t>)</a:t>
            </a:r>
            <a:r>
              <a:rPr lang="ko-KR" altLang="en-US" sz="2000" dirty="0"/>
              <a:t>을 써도</a:t>
            </a:r>
            <a:r>
              <a:rPr lang="en-US" altLang="ko-KR" sz="2000" dirty="0"/>
              <a:t>, </a:t>
            </a:r>
            <a:r>
              <a:rPr lang="ko-KR" altLang="en-US" sz="2000" dirty="0"/>
              <a:t>새로운 정보를 삽입</a:t>
            </a:r>
            <a:r>
              <a:rPr lang="en-US" altLang="ko-KR" sz="2000" dirty="0"/>
              <a:t>, </a:t>
            </a:r>
            <a:r>
              <a:rPr lang="ko-KR" altLang="en-US" sz="2000" dirty="0"/>
              <a:t>삭제할 때</a:t>
            </a:r>
            <a:r>
              <a:rPr lang="en-US" altLang="ko-KR" sz="2000" dirty="0"/>
              <a:t> </a:t>
            </a:r>
            <a:r>
              <a:rPr lang="ko-KR" altLang="en-US" sz="2000" dirty="0"/>
              <a:t>우선순위가 가장 앞 </a:t>
            </a:r>
            <a:r>
              <a:rPr lang="en-US" altLang="ko-KR" sz="2000" dirty="0"/>
              <a:t>(</a:t>
            </a:r>
            <a:r>
              <a:rPr lang="ko-KR" altLang="en-US" sz="2000" dirty="0"/>
              <a:t>또는 가장 위</a:t>
            </a:r>
            <a:r>
              <a:rPr lang="en-US" altLang="ko-KR" sz="2000" dirty="0"/>
              <a:t>)</a:t>
            </a:r>
            <a:r>
              <a:rPr lang="ko-KR" altLang="en-US" sz="2000" dirty="0"/>
              <a:t>에 배치할 수 있도록 유지시킬 수만 있다면 우선순위 큐로 사용 가능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595298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DC599-A457-F6FC-64C7-726785391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86F15-CAEE-63A5-A868-E4C4BF82D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우선순위 큐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3A0010-D8CB-02DA-3140-CA3371692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우선순위 큐에서 우선순위는 구현하는 방식에 따라 다름</a:t>
            </a:r>
            <a:endParaRPr lang="en-US" altLang="ko-KR" sz="2400" dirty="0"/>
          </a:p>
          <a:p>
            <a:r>
              <a:rPr lang="ko-KR" altLang="en-US" sz="2400" dirty="0"/>
              <a:t>가장 기본적인 방법은 최솟값 최댓값 기준으로 우선순위를 정하는 것</a:t>
            </a:r>
            <a:endParaRPr lang="en-US" altLang="ko-KR" sz="2400" dirty="0"/>
          </a:p>
          <a:p>
            <a:r>
              <a:rPr lang="ko-KR" altLang="en-US" sz="2400" dirty="0"/>
              <a:t>필요에 따라 우선순위 정하는 함수 만들어 활용 가능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725914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0C757-C6B3-8CF7-84A0-8C4151EAA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1E776-4B17-D6FB-F0DB-3769ED3A3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우선순위 큐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3A5B7F-C604-F044-913C-3E6064F4D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구현 방법</a:t>
            </a:r>
            <a:r>
              <a:rPr lang="en-US" altLang="ko-KR" sz="2000" dirty="0"/>
              <a:t>: </a:t>
            </a:r>
            <a:r>
              <a:rPr lang="ko-KR" altLang="en-US" sz="2000" dirty="0"/>
              <a:t>리스트</a:t>
            </a:r>
            <a:endParaRPr lang="en-US" altLang="ko-KR" sz="2000" dirty="0"/>
          </a:p>
          <a:p>
            <a:pPr lvl="1"/>
            <a:r>
              <a:rPr lang="ko-KR" altLang="en-US" sz="1600" dirty="0"/>
              <a:t>리스트를 선언</a:t>
            </a:r>
            <a:endParaRPr lang="en-US" altLang="ko-KR" sz="1600" dirty="0"/>
          </a:p>
          <a:p>
            <a:pPr lvl="1"/>
            <a:r>
              <a:rPr lang="ko-KR" altLang="en-US" sz="1600" dirty="0"/>
              <a:t>리스트에 정보가 추가</a:t>
            </a:r>
            <a:r>
              <a:rPr lang="en-US" altLang="ko-KR" sz="1600" dirty="0"/>
              <a:t>/</a:t>
            </a:r>
            <a:r>
              <a:rPr lang="ko-KR" altLang="en-US" sz="1600" dirty="0"/>
              <a:t>삭제 될 때마다 리스트 정렬</a:t>
            </a:r>
            <a:r>
              <a:rPr lang="en-US" altLang="ko-KR" sz="1600" dirty="0"/>
              <a:t>.</a:t>
            </a:r>
            <a:endParaRPr lang="en-US" altLang="ko-KR" sz="1200" dirty="0"/>
          </a:p>
          <a:p>
            <a:r>
              <a:rPr lang="ko-KR" altLang="en-US" sz="2000" dirty="0"/>
              <a:t>구현 방법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힙</a:t>
            </a:r>
            <a:r>
              <a:rPr lang="ko-KR" altLang="en-US" sz="2000" dirty="0"/>
              <a:t> 구현</a:t>
            </a:r>
            <a:endParaRPr lang="en-US" altLang="ko-KR" sz="2000" dirty="0"/>
          </a:p>
          <a:p>
            <a:pPr lvl="1"/>
            <a:r>
              <a:rPr lang="ko-KR" altLang="en-US" sz="1600" dirty="0"/>
              <a:t>학교 수업에서 배움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600" dirty="0"/>
              <a:t>C++</a:t>
            </a:r>
            <a:r>
              <a:rPr lang="ko-KR" altLang="en-US" sz="1600" dirty="0"/>
              <a:t>에서는 </a:t>
            </a:r>
            <a:r>
              <a:rPr lang="ko-KR" altLang="en-US" sz="1600" dirty="0" err="1"/>
              <a:t>힙을</a:t>
            </a:r>
            <a:r>
              <a:rPr lang="ko-KR" altLang="en-US" sz="1600" dirty="0"/>
              <a:t> 구현 할 수 있는 함수들을 </a:t>
            </a:r>
            <a:r>
              <a:rPr lang="ko-KR" altLang="en-US" sz="1600" dirty="0" err="1"/>
              <a:t>재공하긴함</a:t>
            </a:r>
            <a:r>
              <a:rPr lang="ko-KR" altLang="en-US" sz="1600" dirty="0"/>
              <a:t> </a:t>
            </a:r>
            <a:r>
              <a:rPr lang="en-US" altLang="ko-KR" sz="1600" dirty="0"/>
              <a:t>(</a:t>
            </a:r>
            <a:r>
              <a:rPr lang="ko-KR" altLang="en-US" sz="1600" dirty="0">
                <a:hlinkClick r:id="rId2"/>
              </a:rPr>
              <a:t>링크</a:t>
            </a:r>
            <a:r>
              <a:rPr lang="en-US" altLang="ko-KR" sz="1600" dirty="0"/>
              <a:t>)</a:t>
            </a:r>
          </a:p>
          <a:p>
            <a:r>
              <a:rPr lang="ko-KR" altLang="en-US" sz="2000" dirty="0"/>
              <a:t>구현 방법</a:t>
            </a:r>
            <a:r>
              <a:rPr lang="en-US" altLang="ko-KR" sz="2000" dirty="0"/>
              <a:t>: std::</a:t>
            </a:r>
            <a:r>
              <a:rPr lang="en-US" altLang="ko-KR" sz="2000" dirty="0" err="1"/>
              <a:t>priority_queue</a:t>
            </a:r>
            <a:r>
              <a:rPr lang="en-US" altLang="ko-KR" sz="2000" dirty="0"/>
              <a:t> </a:t>
            </a:r>
            <a:r>
              <a:rPr lang="ko-KR" altLang="en-US" sz="2000" dirty="0"/>
              <a:t>활용</a:t>
            </a:r>
            <a:endParaRPr lang="en-US" altLang="ko-KR" sz="2000" dirty="0"/>
          </a:p>
          <a:p>
            <a:pPr lvl="1"/>
            <a:r>
              <a:rPr lang="ko-KR" altLang="en-US" sz="1600" dirty="0"/>
              <a:t>가장 보편적인 방법</a:t>
            </a:r>
            <a:endParaRPr lang="en-US" altLang="ko-KR" sz="1600" dirty="0"/>
          </a:p>
          <a:p>
            <a:pPr lvl="1"/>
            <a:r>
              <a:rPr lang="ko-KR" altLang="en-US" sz="1600" dirty="0"/>
              <a:t>내부적으로 </a:t>
            </a:r>
            <a:r>
              <a:rPr lang="ko-KR" altLang="en-US" sz="1600" dirty="0" err="1"/>
              <a:t>힙을</a:t>
            </a:r>
            <a:r>
              <a:rPr lang="ko-KR" altLang="en-US" sz="1600" dirty="0"/>
              <a:t> 활용하여 구현됨</a:t>
            </a:r>
            <a:endParaRPr lang="en-US" altLang="ko-KR" sz="1600" dirty="0"/>
          </a:p>
          <a:p>
            <a:pPr lvl="1"/>
            <a:r>
              <a:rPr lang="ko-KR" altLang="en-US" sz="1600" dirty="0"/>
              <a:t>우선순위 정하는 함수 직접 구현 및 적용 가능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775846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F77F0-FDE8-0B8C-F573-1F93E7BD6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우선순위 큐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480C63-8D24-217A-7D2C-CCA4E0226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1. </a:t>
            </a:r>
            <a:r>
              <a:rPr lang="ko-KR" altLang="en-US" sz="2400" dirty="0"/>
              <a:t>선언</a:t>
            </a:r>
            <a:endParaRPr lang="en-US" altLang="ko-KR" sz="2400" dirty="0"/>
          </a:p>
          <a:p>
            <a:r>
              <a:rPr lang="en-US" altLang="ko-KR" sz="2400" dirty="0" err="1"/>
              <a:t>priority_queue</a:t>
            </a:r>
            <a:r>
              <a:rPr lang="en-US" altLang="ko-KR" sz="2400" dirty="0"/>
              <a:t>&lt;int&gt; </a:t>
            </a:r>
            <a:r>
              <a:rPr lang="en-US" altLang="ko-KR" sz="2400" dirty="0" err="1"/>
              <a:t>pq</a:t>
            </a:r>
            <a:r>
              <a:rPr lang="en-US" altLang="ko-KR" sz="2400" dirty="0"/>
              <a:t>;</a:t>
            </a:r>
          </a:p>
          <a:p>
            <a:pPr lvl="1"/>
            <a:r>
              <a:rPr lang="ko-KR" altLang="en-US" sz="2000" dirty="0"/>
              <a:t>기본 </a:t>
            </a:r>
            <a:r>
              <a:rPr lang="en-US" altLang="ko-KR" sz="2000" dirty="0" err="1"/>
              <a:t>priority_queue</a:t>
            </a:r>
            <a:r>
              <a:rPr lang="ko-KR" altLang="en-US" sz="2000" dirty="0"/>
              <a:t>는 최대 </a:t>
            </a:r>
            <a:r>
              <a:rPr lang="ko-KR" altLang="en-US" sz="2000" dirty="0" err="1"/>
              <a:t>힙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큰 값이 먼저 나옴</a:t>
            </a:r>
            <a:r>
              <a:rPr lang="en-US" altLang="ko-KR" sz="2000" dirty="0"/>
              <a:t>)</a:t>
            </a:r>
          </a:p>
          <a:p>
            <a:r>
              <a:rPr lang="en-US" altLang="ko-KR" sz="2400" dirty="0" err="1"/>
              <a:t>priority_queue</a:t>
            </a:r>
            <a:r>
              <a:rPr lang="en-US" altLang="ko-KR" sz="2400" dirty="0"/>
              <a:t>&lt;int, vector&lt;int&gt;, greater&lt;int&gt;&gt; </a:t>
            </a:r>
            <a:r>
              <a:rPr lang="en-US" altLang="ko-KR" sz="2400" dirty="0" err="1"/>
              <a:t>pq</a:t>
            </a:r>
            <a:r>
              <a:rPr lang="en-US" altLang="ko-KR" sz="2400" dirty="0"/>
              <a:t>;</a:t>
            </a:r>
          </a:p>
          <a:p>
            <a:pPr lvl="1"/>
            <a:r>
              <a:rPr lang="ko-KR" altLang="en-US" sz="2000" dirty="0"/>
              <a:t>최소 </a:t>
            </a:r>
            <a:r>
              <a:rPr lang="ko-KR" altLang="en-US" sz="2000" dirty="0" err="1"/>
              <a:t>힙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작은 값이 먼저 나옴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2. </a:t>
            </a:r>
            <a:r>
              <a:rPr lang="ko-KR" altLang="en-US" sz="2400" dirty="0"/>
              <a:t>삽입 </a:t>
            </a:r>
            <a:r>
              <a:rPr lang="en-US" altLang="ko-KR" sz="2400" dirty="0"/>
              <a:t>(push)</a:t>
            </a:r>
          </a:p>
          <a:p>
            <a:r>
              <a:rPr lang="en-US" altLang="ko-KR" sz="2400" dirty="0" err="1"/>
              <a:t>pq.push</a:t>
            </a:r>
            <a:r>
              <a:rPr lang="en-US" altLang="ko-KR" sz="2400" dirty="0"/>
              <a:t>(10);</a:t>
            </a:r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85703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C614F-E85B-F7F2-1D83-7B7D3BAF9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B16E49-7DEF-94CD-F67B-8E2480B8C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우선순위 큐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22714F-6085-1546-952E-2C4356279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3. </a:t>
            </a:r>
            <a:r>
              <a:rPr lang="ko-KR" altLang="ko-KR" sz="2400" dirty="0"/>
              <a:t>접근 </a:t>
            </a:r>
            <a:r>
              <a:rPr lang="en-US" altLang="ko-KR" sz="2400" dirty="0"/>
              <a:t>(top) — </a:t>
            </a:r>
            <a:r>
              <a:rPr lang="ko-KR" altLang="ko-KR" sz="2400" dirty="0"/>
              <a:t>항상 가장 우선순위 높은 원소 확인</a:t>
            </a:r>
            <a:endParaRPr lang="en-US" altLang="ko-KR" sz="2400" dirty="0"/>
          </a:p>
          <a:p>
            <a:r>
              <a:rPr lang="en-US" altLang="ko-KR" sz="2400" dirty="0" err="1"/>
              <a:t>pq.top</a:t>
            </a:r>
            <a:r>
              <a:rPr lang="en-US" altLang="ko-KR" sz="2400" dirty="0"/>
              <a:t>(); </a:t>
            </a:r>
            <a:r>
              <a:rPr lang="en-US" altLang="ko-KR" sz="2000" dirty="0"/>
              <a:t>// </a:t>
            </a:r>
            <a:r>
              <a:rPr lang="ko-KR" altLang="en-US" sz="2000" dirty="0"/>
              <a:t>우선순위 가장 높은 원소 반환</a:t>
            </a:r>
            <a:endParaRPr lang="en-US" altLang="ko-KR" sz="2400" dirty="0"/>
          </a:p>
          <a:p>
            <a:pPr marL="0" indent="0">
              <a:buNone/>
            </a:pPr>
            <a:endParaRPr lang="ko-KR" altLang="ko-KR" sz="2400" dirty="0"/>
          </a:p>
          <a:p>
            <a:pPr marL="0" indent="0">
              <a:buNone/>
            </a:pPr>
            <a:r>
              <a:rPr lang="en-US" altLang="ko-KR" sz="2400" dirty="0"/>
              <a:t>4. </a:t>
            </a:r>
            <a:r>
              <a:rPr lang="ko-KR" altLang="ko-KR" sz="2400" dirty="0"/>
              <a:t>삭제 </a:t>
            </a:r>
            <a:r>
              <a:rPr lang="en-US" altLang="ko-KR" sz="2400" dirty="0"/>
              <a:t>(pop) — top</a:t>
            </a:r>
            <a:r>
              <a:rPr lang="ko-KR" altLang="ko-KR" sz="2400" dirty="0"/>
              <a:t>을 제거</a:t>
            </a:r>
          </a:p>
          <a:p>
            <a:r>
              <a:rPr lang="en-US" altLang="ko-KR" sz="2000" dirty="0" err="1"/>
              <a:t>pq.pop</a:t>
            </a:r>
            <a:r>
              <a:rPr lang="en-US" altLang="ko-KR" sz="20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4084835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63C4D-9484-8069-0B7B-726CD499D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E6D7BA-7C9B-C7CB-CCEB-3435F4D1F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우선순위 큐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0983B3-19F5-EDDE-63EF-045A2881E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예제 문제 </a:t>
            </a:r>
            <a:r>
              <a:rPr lang="en-US" altLang="ko-KR" sz="2000" dirty="0"/>
              <a:t>: </a:t>
            </a:r>
            <a:r>
              <a:rPr lang="en-US" altLang="ko-KR" sz="2000" dirty="0">
                <a:hlinkClick r:id="rId2"/>
              </a:rPr>
              <a:t>https://www.acmicpc.net/problem/11279</a:t>
            </a:r>
            <a:endParaRPr lang="en-US" altLang="ko-KR" sz="2000" dirty="0"/>
          </a:p>
          <a:p>
            <a:r>
              <a:rPr lang="en-US" altLang="ko-KR" sz="2000" dirty="0"/>
              <a:t>C++ </a:t>
            </a:r>
            <a:r>
              <a:rPr lang="ko-KR" altLang="en-US" sz="2000" dirty="0"/>
              <a:t>예시 답안 </a:t>
            </a:r>
            <a:r>
              <a:rPr lang="en-US" altLang="ko-KR" sz="2000" dirty="0"/>
              <a:t>: </a:t>
            </a:r>
            <a:r>
              <a:rPr lang="en-US" altLang="ko-KR" sz="2000" dirty="0">
                <a:hlinkClick r:id="rId3"/>
              </a:rPr>
              <a:t>http://boj.kr/274b68344ec649b69253dc000caa7248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496624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4D3B2-501E-0EA5-ADB0-5238D20F8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8CDDE2-7520-0824-BF4E-918817441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복습 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DCE6C2-8E1A-6997-8C8E-B3BF38CD0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집합과 맵 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https://www.acmicpc.net/step/49</a:t>
            </a:r>
            <a:endParaRPr lang="en-US" altLang="ko-KR" dirty="0"/>
          </a:p>
          <a:p>
            <a:r>
              <a:rPr lang="ko-KR" altLang="en-US" dirty="0"/>
              <a:t>우선순위 큐 </a:t>
            </a:r>
            <a:r>
              <a:rPr lang="en-US" altLang="ko-KR" dirty="0"/>
              <a:t>: </a:t>
            </a:r>
            <a:r>
              <a:rPr lang="en-US" altLang="ko-KR" dirty="0">
                <a:hlinkClick r:id="rId3"/>
              </a:rPr>
              <a:t>https://www.acmicpc.net/step/13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55727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1267</TotalTime>
  <Words>804</Words>
  <Application>Microsoft Office PowerPoint</Application>
  <PresentationFormat>와이드스크린</PresentationFormat>
  <Paragraphs>119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자구&amp;알고 스터디</vt:lpstr>
      <vt:lpstr>맵</vt:lpstr>
      <vt:lpstr>맵</vt:lpstr>
      <vt:lpstr>맵</vt:lpstr>
      <vt:lpstr>맵</vt:lpstr>
      <vt:lpstr>맵</vt:lpstr>
      <vt:lpstr>집합</vt:lpstr>
      <vt:lpstr>집합</vt:lpstr>
      <vt:lpstr>집합</vt:lpstr>
      <vt:lpstr>집합</vt:lpstr>
      <vt:lpstr>우선순위 큐 </vt:lpstr>
      <vt:lpstr>우선순위 큐 </vt:lpstr>
      <vt:lpstr>우선순위 큐 </vt:lpstr>
      <vt:lpstr>우선순위 큐 </vt:lpstr>
      <vt:lpstr>우선순위 큐 </vt:lpstr>
      <vt:lpstr>우선순위 큐 </vt:lpstr>
      <vt:lpstr>복습 문제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이태규</dc:creator>
  <cp:lastModifiedBy>이태규</cp:lastModifiedBy>
  <cp:revision>216</cp:revision>
  <dcterms:created xsi:type="dcterms:W3CDTF">2025-09-07T07:21:38Z</dcterms:created>
  <dcterms:modified xsi:type="dcterms:W3CDTF">2025-09-21T13:15:22Z</dcterms:modified>
</cp:coreProperties>
</file>