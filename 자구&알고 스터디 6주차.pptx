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4" r:id="rId3"/>
    <p:sldId id="292" r:id="rId4"/>
    <p:sldId id="291" r:id="rId5"/>
    <p:sldId id="276" r:id="rId6"/>
    <p:sldId id="286" r:id="rId7"/>
    <p:sldId id="289" r:id="rId8"/>
    <p:sldId id="287" r:id="rId9"/>
    <p:sldId id="294" r:id="rId10"/>
    <p:sldId id="29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AC852-3943-4D51-80F6-C4AAF313C63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DA249-7C39-4352-9E45-C2A700C6EF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437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91600-1290-79B0-79CC-7E2CFBA37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8C8A10-28B2-6B33-723A-C8228B0D4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DFAC2E-4229-0574-0B42-75CD03D4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49B39-723D-8DC0-4E9D-EFFAF1E2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83DE1-650A-36F6-6C03-CDFDC6EB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81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9DE04-2E55-0B3E-F3C6-D3315898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2656D-974E-264F-566D-87DD7CA1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08C91-5F7C-2B73-5157-2DFEE482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BBA6AD-96B7-F377-55EF-A2DBD772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7D60F2-8AD5-06E6-9767-27C8FCBC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60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E23D1-089F-9926-9265-0A911F9A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3E1A64-96C0-855D-2661-A0FEFF369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EFFDC-E59A-31C5-809B-72C1D2CD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C5ECF-1952-9C24-4222-DE41CC40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4F296-578E-79BD-2D9B-B6647C8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88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85772-9DD8-F373-2D4C-4174C8AA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92EF5-CA5C-79CC-71E3-B68626ED7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3A2304-0129-4DC7-6BE8-125BB259D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1789E6-D8EC-7B16-E02C-EFAA587A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E5B10E-627D-7A59-3BD4-7B7EDC0F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D17AE4-CDD5-B47F-CD44-8E54175A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92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1898D-D98F-C86E-2F24-743E8C05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F86ED-8CD1-3ADE-35D1-40DD3646A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D91F8E-CCA0-FAAF-6050-57CB6B266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49BED6-C560-D0B7-3083-9C946B560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4ABFF0-3842-262E-DBE1-C0FDD14E1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9AF9FE-E75B-B59B-771A-C19D60C5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830B46-E655-777C-DD63-EC05DC46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7D3442-D774-6A4B-962B-F495F8F1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63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C544B-5293-1FFF-20E0-3B48D350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81B5F6-E3E9-B6AA-D3F4-5F44FE37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63984E-5335-A94F-40FF-B8860ACE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B2E13A-C8CB-6C60-82D5-4AB56A8F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61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AA4128-7C05-07B2-0AB7-F5EA709D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5B2FD-0635-9306-63B7-495C25F4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7B179B-2404-8F11-7315-3856C2D0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25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B9E0D-A985-199A-30C9-5455E963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3E9A32-6091-B4D7-2A95-56593DE1B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A524D-AFA8-E687-BC6D-E4E1D5B3D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6CB03-E1F3-3453-4B15-56D3145D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CADDD-B757-E3AD-A0DE-33585448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4C2ED-274C-A116-62F3-B5889897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85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6A49B-7C3A-795A-D97A-F1B0DCBA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46C7ED-D1EA-E03C-62E6-5D5322C93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C0C8E8-83F5-7D6E-94BF-3A6899179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B2579B-256E-AA8A-B1F6-C26F3A26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BC8E4-8FDF-8572-035B-FEA7EA87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AF9882-077A-CAC2-F083-8E23ABEE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514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54073-27B2-5F4F-4C1D-A5359877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4B4666-EB99-D106-12F4-BF4B4617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002B9-6BF5-17F8-BCB8-D189109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4B879F-6566-0BDF-0D4B-5C3BC2E3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FD1B1-B85D-94DF-6190-5EDF3B0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56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3C1A51-AA07-93A1-B2BA-1AE95DD7E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4E7333-0723-2509-4B18-0ED9653ED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EE390-8EFE-325F-4E92-34B63FFE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0D9B9-17B9-3E9A-ECC0-B8B8C280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722C0-040D-30ED-49D5-D39296C3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17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036321-93C5-32E8-43F1-95B9D8E4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93689C-20E1-2835-A92B-5B87C4747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D60AD-4BEF-863F-CE9F-4A934AA1C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42074-AB8A-4DE3-842B-2B238FAEC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BF470F-2FD6-C59C-DC61-3266505C3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5973C-09A2-0401-1519-0C4272B6D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0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sticeHui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F43CA-A23F-1B98-C63A-0791B16D14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자구</a:t>
            </a:r>
            <a:r>
              <a:rPr lang="en-US" altLang="ko-KR" dirty="0"/>
              <a:t>&amp;</a:t>
            </a:r>
            <a:r>
              <a:rPr lang="ko-KR" altLang="en-US" dirty="0"/>
              <a:t>알고 스터디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7C2082-1E01-80C1-C0E4-FDA571708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0" y="3619291"/>
            <a:ext cx="8229600" cy="1655762"/>
          </a:xfrm>
        </p:spPr>
        <p:txBody>
          <a:bodyPr/>
          <a:lstStyle/>
          <a:p>
            <a:r>
              <a:rPr lang="ko-KR" altLang="en-US" dirty="0"/>
              <a:t>그래프</a:t>
            </a:r>
            <a:endParaRPr lang="en-US" altLang="ko-KR" dirty="0"/>
          </a:p>
          <a:p>
            <a:r>
              <a:rPr lang="en-US" altLang="ko-KR" dirty="0"/>
              <a:t>BFS, DFS</a:t>
            </a:r>
          </a:p>
        </p:txBody>
      </p:sp>
    </p:spTree>
    <p:extLst>
      <p:ext uri="{BB962C8B-B14F-4D97-AF65-F5344CB8AC3E}">
        <p14:creationId xmlns:p14="http://schemas.microsoft.com/office/powerpoint/2010/main" val="13900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8C4E-ACF0-2C0D-5AA3-7AE77492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2F0DB-F042-F45C-530E-65453CFD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0450C-EE9A-3ABC-9CEC-E77FB89D3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유한한 </a:t>
            </a:r>
            <a:r>
              <a:rPr lang="en-US" altLang="ko-KR" sz="2400" dirty="0"/>
              <a:t>(</a:t>
            </a:r>
            <a:r>
              <a:rPr lang="ko-KR" altLang="en-US" sz="2400" dirty="0"/>
              <a:t>그리고 아마도 변경 가능한</a:t>
            </a:r>
            <a:r>
              <a:rPr lang="en-US" altLang="ko-KR" sz="2400" dirty="0"/>
              <a:t>) </a:t>
            </a:r>
            <a:r>
              <a:rPr lang="ko-KR" altLang="en-US" sz="2400" dirty="0"/>
              <a:t>정점 집합과</a:t>
            </a:r>
            <a:r>
              <a:rPr lang="en-US" altLang="ko-KR" sz="2400" dirty="0"/>
              <a:t> </a:t>
            </a:r>
            <a:r>
              <a:rPr lang="ko-KR" altLang="en-US" sz="2400" dirty="0"/>
              <a:t>간선</a:t>
            </a:r>
            <a:r>
              <a:rPr lang="en-US" altLang="ko-KR" sz="2400" dirty="0"/>
              <a:t>(</a:t>
            </a:r>
            <a:r>
              <a:rPr lang="ko-KR" altLang="en-US" sz="2400" dirty="0"/>
              <a:t>두 정점의 쌍</a:t>
            </a:r>
            <a:r>
              <a:rPr lang="en-US" altLang="ko-KR" sz="2400" dirty="0"/>
              <a:t>)</a:t>
            </a:r>
            <a:r>
              <a:rPr lang="ko-KR" altLang="en-US" sz="2400" dirty="0"/>
              <a:t>의 집합으로 이루어진 자료구조를 의미함</a:t>
            </a:r>
            <a:r>
              <a:rPr lang="en-US" altLang="ko-KR" sz="2400" dirty="0"/>
              <a:t>.</a:t>
            </a:r>
          </a:p>
          <a:p>
            <a:pPr lvl="1"/>
            <a:r>
              <a:rPr lang="ko-KR" altLang="en-US" sz="2000" dirty="0"/>
              <a:t>정점을 노드</a:t>
            </a:r>
            <a:r>
              <a:rPr lang="en-US" altLang="ko-KR" sz="2000" dirty="0"/>
              <a:t>(node)</a:t>
            </a:r>
            <a:r>
              <a:rPr lang="ko-KR" altLang="en-US" sz="2000" dirty="0"/>
              <a:t>라 하기도 함</a:t>
            </a:r>
            <a:endParaRPr lang="en-US" altLang="ko-KR" sz="2000" dirty="0"/>
          </a:p>
          <a:p>
            <a:pPr lvl="1"/>
            <a:r>
              <a:rPr lang="ko-KR" altLang="en-US" sz="2000" dirty="0"/>
              <a:t>간선은 보통 화살로 표현함</a:t>
            </a: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</p:txBody>
      </p:sp>
      <p:pic>
        <p:nvPicPr>
          <p:cNvPr id="1036" name="Picture 12" descr="undefined">
            <a:extLst>
              <a:ext uri="{FF2B5EF4-FFF2-40B4-BE49-F238E27FC236}">
                <a16:creationId xmlns:a16="http://schemas.microsoft.com/office/drawing/2014/main" id="{AC3698AE-DB54-C102-C19C-460848282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771" y="3187517"/>
            <a:ext cx="4528458" cy="298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57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FC2E5-3B77-AF64-0D37-BFD9B309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7EFB91-6AFC-80AF-0EB0-E58294373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11" name="그림 10" descr="텍스트, 폰트, 친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1315A5-D799-48DF-27BB-2DA72C8BF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66" y="584497"/>
            <a:ext cx="10838034" cy="627350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B68777A-D5D1-1C91-83A7-701F8F39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 관련 용어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083C1-6FE2-E282-DD1B-DF85B07966B0}"/>
              </a:ext>
            </a:extLst>
          </p:cNvPr>
          <p:cNvSpPr txBox="1"/>
          <p:nvPr/>
        </p:nvSpPr>
        <p:spPr>
          <a:xfrm>
            <a:off x="914399" y="6176963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SSU-SCCC-Study, </a:t>
            </a:r>
            <a:r>
              <a:rPr lang="en-US" altLang="ko-KR" sz="1200" dirty="0" err="1"/>
              <a:t>justiceHui</a:t>
            </a:r>
            <a:r>
              <a:rPr lang="en-US" altLang="ko-KR" sz="1200" dirty="0"/>
              <a:t> , </a:t>
            </a:r>
            <a:r>
              <a:rPr lang="en-US" altLang="ko-KR" sz="1200" dirty="0">
                <a:hlinkClick r:id="rId3"/>
              </a:rPr>
              <a:t>https://github.com/justiceHui</a:t>
            </a:r>
            <a:endParaRPr lang="en-US" altLang="ko-KR" sz="1200" dirty="0"/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2.0 KR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BEC73F-76A9-D34A-A20C-AC2C292D8947}"/>
              </a:ext>
            </a:extLst>
          </p:cNvPr>
          <p:cNvSpPr/>
          <p:nvPr/>
        </p:nvSpPr>
        <p:spPr>
          <a:xfrm>
            <a:off x="5230761" y="884903"/>
            <a:ext cx="1484671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20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855CA-D16A-91A3-6A4F-54D1E8B2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1DEBC-245C-2FCE-2721-756F7987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 모양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F43E93-3CB4-725B-C261-974951590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13026" cy="4771821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방향 그래프</a:t>
            </a:r>
            <a:endParaRPr lang="en-US" altLang="ko-KR" sz="2400" dirty="0"/>
          </a:p>
          <a:p>
            <a:pPr lvl="1"/>
            <a:r>
              <a:rPr lang="ko-KR" altLang="en-US" sz="2000" dirty="0"/>
              <a:t>간선마다 방향이 한 쪽으로 정해진 그래프</a:t>
            </a:r>
            <a:endParaRPr lang="en-US" altLang="ko-KR" sz="2000" dirty="0"/>
          </a:p>
          <a:p>
            <a:r>
              <a:rPr lang="ko-KR" altLang="en-US" sz="2400" dirty="0" err="1"/>
              <a:t>비방향</a:t>
            </a:r>
            <a:r>
              <a:rPr lang="ko-KR" altLang="en-US" sz="2400" dirty="0"/>
              <a:t> 그래프</a:t>
            </a:r>
            <a:endParaRPr lang="en-US" altLang="ko-KR" sz="2400" dirty="0"/>
          </a:p>
          <a:p>
            <a:pPr lvl="1"/>
            <a:r>
              <a:rPr lang="ko-KR" altLang="en-US" sz="2000" dirty="0"/>
              <a:t>간선마다 방향이 정해져 있지 않는 그래프</a:t>
            </a:r>
            <a:endParaRPr lang="en-US" altLang="ko-KR" sz="2000" dirty="0"/>
          </a:p>
          <a:p>
            <a:pPr lvl="1"/>
            <a:r>
              <a:rPr lang="ko-KR" altLang="en-US" sz="2000" dirty="0"/>
              <a:t>방향 그래프의 간선의 방향이 양쪽으로 이동 가능하도록 설정한 것이라 생각하면 편함</a:t>
            </a:r>
            <a:r>
              <a:rPr lang="en-US" altLang="ko-KR" sz="2000" dirty="0"/>
              <a:t>.</a:t>
            </a:r>
          </a:p>
          <a:p>
            <a:r>
              <a:rPr lang="ko-KR" altLang="en-US" sz="2400" dirty="0"/>
              <a:t>가중치 그래프</a:t>
            </a:r>
            <a:endParaRPr lang="en-US" altLang="ko-KR" sz="2400" dirty="0"/>
          </a:p>
          <a:p>
            <a:pPr lvl="1"/>
            <a:r>
              <a:rPr lang="ko-KR" altLang="en-US" sz="2000" dirty="0"/>
              <a:t>각 간선마다 어떠한 값이 매겨진 그래프</a:t>
            </a:r>
            <a:endParaRPr lang="en-US" altLang="ko-KR" sz="2000" dirty="0"/>
          </a:p>
          <a:p>
            <a:r>
              <a:rPr lang="ko-KR" altLang="en-US" sz="2400" dirty="0"/>
              <a:t>방향 </a:t>
            </a:r>
            <a:r>
              <a:rPr lang="ko-KR" altLang="en-US" sz="2400" dirty="0" err="1"/>
              <a:t>비순환</a:t>
            </a:r>
            <a:r>
              <a:rPr lang="ko-KR" altLang="en-US" sz="2400" dirty="0"/>
              <a:t> 그래프 </a:t>
            </a:r>
            <a:r>
              <a:rPr lang="en-US" altLang="ko-KR" sz="2400" dirty="0"/>
              <a:t>(DAG)</a:t>
            </a:r>
          </a:p>
          <a:p>
            <a:pPr lvl="1"/>
            <a:r>
              <a:rPr lang="ko-KR" altLang="en-US" sz="2000" dirty="0"/>
              <a:t>방향 그래프이지만 사이클이 없음</a:t>
            </a:r>
            <a:endParaRPr lang="en-US" altLang="ko-KR" sz="2000" dirty="0"/>
          </a:p>
          <a:p>
            <a:r>
              <a:rPr lang="ko-KR" altLang="en-US" sz="2400" dirty="0"/>
              <a:t>트리</a:t>
            </a:r>
            <a:endParaRPr lang="en-US" altLang="ko-KR" sz="2400" dirty="0"/>
          </a:p>
          <a:p>
            <a:pPr lvl="1"/>
            <a:r>
              <a:rPr lang="ko-KR" altLang="en-US" sz="2000" dirty="0"/>
              <a:t>모든 서로 다른 정점 쌍이 정확히 하나의 경로로 연결된 </a:t>
            </a:r>
            <a:r>
              <a:rPr lang="ko-KR" altLang="en-US" sz="2000" dirty="0" err="1"/>
              <a:t>무방향</a:t>
            </a:r>
            <a:r>
              <a:rPr lang="ko-KR" altLang="en-US" sz="2000" dirty="0"/>
              <a:t> 그래프 또는 동일하게 연결된 </a:t>
            </a:r>
            <a:r>
              <a:rPr lang="ko-KR" altLang="en-US" sz="2000" dirty="0" err="1"/>
              <a:t>비순환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무방향</a:t>
            </a:r>
            <a:r>
              <a:rPr lang="ko-KR" altLang="en-US" sz="2000" dirty="0"/>
              <a:t> 그래프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61916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F119C-0AAB-AEA8-29F9-AE3DBF07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5EC9C-6826-C0F1-3B47-09243779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 문제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D87C9-06CE-4835-7643-E03490FE7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ko-KR" altLang="en-US" sz="2800" dirty="0"/>
              <a:t>경로 탐색</a:t>
            </a:r>
            <a:endParaRPr lang="en-US" altLang="ko-KR" sz="2800" dirty="0"/>
          </a:p>
          <a:p>
            <a:pPr lvl="1"/>
            <a:r>
              <a:rPr lang="ko-KR" altLang="en-US" sz="2800" dirty="0"/>
              <a:t>최단 경로</a:t>
            </a:r>
            <a:endParaRPr lang="en-US" altLang="ko-KR" sz="2800" dirty="0"/>
          </a:p>
          <a:p>
            <a:pPr lvl="1"/>
            <a:r>
              <a:rPr lang="en-US" altLang="ko-KR" sz="2800" dirty="0"/>
              <a:t>DP</a:t>
            </a:r>
          </a:p>
          <a:p>
            <a:pPr lvl="2"/>
            <a:r>
              <a:rPr lang="ko-KR" altLang="en-US" dirty="0"/>
              <a:t>그래프 노드 색칠</a:t>
            </a:r>
            <a:endParaRPr lang="en-US" altLang="ko-KR" dirty="0"/>
          </a:p>
          <a:p>
            <a:pPr lvl="2"/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886060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DDED-9D92-D920-945F-8CECC458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8D768-A80E-8243-6905-45548D89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 표현 방법 </a:t>
            </a:r>
            <a:r>
              <a:rPr lang="en-US" altLang="ko-KR" dirty="0"/>
              <a:t>– </a:t>
            </a:r>
            <a:r>
              <a:rPr lang="ko-KR" altLang="en-US" dirty="0"/>
              <a:t>인접 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B16FF-F650-E86C-6BAA-C7C4842572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endParaRPr lang="ko-KR" altLang="en-US" sz="2000" dirty="0"/>
          </a:p>
          <a:p>
            <a:endParaRPr lang="en-US" altLang="ko-KR" sz="2400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724711-0A38-9C8B-277E-9385FC19DC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간단함</a:t>
            </a:r>
            <a:endParaRPr lang="en-US" altLang="ko-KR" dirty="0"/>
          </a:p>
          <a:p>
            <a:r>
              <a:rPr lang="ko-KR" altLang="en-US" dirty="0"/>
              <a:t>만일 방향 그래프이면 행이 간선의 시작점</a:t>
            </a:r>
            <a:r>
              <a:rPr lang="en-US" altLang="ko-KR" dirty="0"/>
              <a:t>, </a:t>
            </a:r>
            <a:r>
              <a:rPr lang="ko-KR" altLang="en-US" dirty="0"/>
              <a:t>열이 간선의 끝점이라 생각하고 구현하면 됨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651FF8-F652-B21E-F37C-D1D697D98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36144"/>
            <a:ext cx="4935796" cy="35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00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51F7-227D-8BDC-A670-F277C0F4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5ACDE-BBC4-09DD-3459-37F193458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 표현 방법 </a:t>
            </a:r>
            <a:r>
              <a:rPr lang="en-US" altLang="ko-KR" dirty="0"/>
              <a:t>– </a:t>
            </a:r>
            <a:r>
              <a:rPr lang="ko-KR" altLang="en-US" dirty="0"/>
              <a:t>인접 리스트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9EB042-E28B-9BFD-1C6F-F9108A533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3844"/>
            <a:ext cx="5181600" cy="3247821"/>
          </a:xfrm>
        </p:spPr>
        <p:txBody>
          <a:bodyPr>
            <a:normAutofit fontScale="70000" lnSpcReduction="20000"/>
          </a:bodyPr>
          <a:lstStyle/>
          <a:p>
            <a:pPr lvl="1"/>
            <a:endParaRPr lang="ko-KR" altLang="en-US" sz="2000" dirty="0"/>
          </a:p>
          <a:p>
            <a:pPr marL="0" indent="0">
              <a:buNone/>
            </a:pPr>
            <a:r>
              <a:rPr lang="en-US" altLang="ko-KR" sz="2000" dirty="0"/>
              <a:t>vector&lt;int&gt; graph[100];</a:t>
            </a:r>
          </a:p>
          <a:p>
            <a:pPr marL="0" indent="0">
              <a:buNone/>
            </a:pPr>
            <a:r>
              <a:rPr lang="en-US" altLang="ko-KR" sz="2000" dirty="0"/>
              <a:t>int main() {</a:t>
            </a:r>
          </a:p>
          <a:p>
            <a:pPr marL="0" indent="0">
              <a:buNone/>
            </a:pPr>
            <a:r>
              <a:rPr lang="en-US" altLang="ko-KR" sz="2000" dirty="0"/>
              <a:t>    int </a:t>
            </a:r>
            <a:r>
              <a:rPr lang="en-US" altLang="ko-KR" sz="2000" dirty="0" err="1"/>
              <a:t>n,m</a:t>
            </a:r>
            <a:r>
              <a:rPr lang="en-US" altLang="ko-KR" sz="2000" dirty="0"/>
              <a:t>; </a:t>
            </a:r>
            <a:r>
              <a:rPr lang="en-US" altLang="ko-KR" sz="2000" dirty="0" err="1"/>
              <a:t>cin</a:t>
            </a:r>
            <a:r>
              <a:rPr lang="en-US" altLang="ko-KR" sz="2000" dirty="0"/>
              <a:t> &gt;&gt; n &gt;&gt; m;</a:t>
            </a:r>
          </a:p>
          <a:p>
            <a:pPr marL="0" indent="0">
              <a:buNone/>
            </a:pPr>
            <a:r>
              <a:rPr lang="en-US" altLang="ko-KR" sz="2000" dirty="0"/>
              <a:t>    while (m-- &gt;0) {</a:t>
            </a:r>
          </a:p>
          <a:p>
            <a:pPr marL="0" indent="0">
              <a:buNone/>
            </a:pPr>
            <a:r>
              <a:rPr lang="en-US" altLang="ko-KR" sz="2000" dirty="0"/>
              <a:t>        int s, e; </a:t>
            </a:r>
            <a:r>
              <a:rPr lang="en-US" altLang="ko-KR" sz="2000" dirty="0" err="1"/>
              <a:t>cin</a:t>
            </a:r>
            <a:r>
              <a:rPr lang="en-US" altLang="ko-KR" sz="2000" dirty="0"/>
              <a:t> &gt;&gt; s &gt;&gt; e;</a:t>
            </a:r>
          </a:p>
          <a:p>
            <a:pPr marL="0" indent="0">
              <a:buNone/>
            </a:pPr>
            <a:r>
              <a:rPr lang="en-US" altLang="ko-KR" sz="2000" dirty="0"/>
              <a:t>        graph[s].</a:t>
            </a:r>
            <a:r>
              <a:rPr lang="en-US" altLang="ko-KR" sz="2000" dirty="0" err="1"/>
              <a:t>push_back</a:t>
            </a:r>
            <a:r>
              <a:rPr lang="en-US" altLang="ko-KR" sz="2000" dirty="0"/>
              <a:t>(e);</a:t>
            </a:r>
          </a:p>
          <a:p>
            <a:pPr marL="0" indent="0">
              <a:buNone/>
            </a:pPr>
            <a:r>
              <a:rPr lang="en-US" altLang="ko-KR" sz="2000" dirty="0"/>
              <a:t>        // </a:t>
            </a:r>
            <a:r>
              <a:rPr lang="ko-KR" altLang="en-US" sz="2000" dirty="0"/>
              <a:t>만일 </a:t>
            </a:r>
            <a:r>
              <a:rPr lang="ko-KR" altLang="en-US" sz="2000" dirty="0" err="1"/>
              <a:t>비방향</a:t>
            </a:r>
            <a:r>
              <a:rPr lang="ko-KR" altLang="en-US" sz="2000" dirty="0"/>
              <a:t> 그래프인 경우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graph[e].</a:t>
            </a:r>
            <a:r>
              <a:rPr lang="en-US" altLang="ko-KR" sz="2000" dirty="0" err="1"/>
              <a:t>push_back</a:t>
            </a:r>
            <a:r>
              <a:rPr lang="en-US" altLang="ko-KR" sz="2000" dirty="0"/>
              <a:t>(s); </a:t>
            </a:r>
          </a:p>
          <a:p>
            <a:pPr marL="0" indent="0">
              <a:buNone/>
            </a:pPr>
            <a:r>
              <a:rPr lang="en-US" altLang="ko-KR" sz="2000" dirty="0"/>
              <a:t>    }</a:t>
            </a:r>
          </a:p>
          <a:p>
            <a:pPr marL="0" indent="0">
              <a:buNone/>
            </a:pPr>
            <a:r>
              <a:rPr lang="en-US" altLang="ko-KR" sz="2000" dirty="0"/>
              <a:t>}</a:t>
            </a:r>
            <a:endParaRPr lang="en-US" altLang="ko-KR" sz="24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D9B06A-86C8-6963-0C27-A6C601262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5225"/>
            <a:ext cx="5181600" cy="233342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각 노드가 어느 노드와 연결 되어 있는지 저장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방향 그래프인 경우</a:t>
            </a:r>
            <a:r>
              <a:rPr lang="en-US" altLang="ko-KR" dirty="0"/>
              <a:t>, </a:t>
            </a:r>
            <a:r>
              <a:rPr lang="ko-KR" altLang="en-US" dirty="0"/>
              <a:t>들어오는 노드와 나가는 노드를 따로 기록하는 방법도 있음</a:t>
            </a:r>
            <a:r>
              <a:rPr lang="en-US" altLang="ko-KR" dirty="0"/>
              <a:t>.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이때</a:t>
            </a:r>
            <a:r>
              <a:rPr lang="en-US" altLang="ko-KR" dirty="0"/>
              <a:t>, vector&lt;int&gt; </a:t>
            </a:r>
            <a:r>
              <a:rPr lang="en-US" altLang="ko-KR" dirty="0" err="1"/>
              <a:t>inNode</a:t>
            </a:r>
            <a:r>
              <a:rPr lang="en-US" altLang="ko-KR" dirty="0"/>
              <a:t>[100];, vector&lt;int&gt; </a:t>
            </a:r>
            <a:r>
              <a:rPr lang="en-US" altLang="ko-KR" dirty="0" err="1"/>
              <a:t>outNode</a:t>
            </a:r>
            <a:r>
              <a:rPr lang="en-US" altLang="ko-KR" dirty="0"/>
              <a:t>[100]; </a:t>
            </a:r>
            <a:r>
              <a:rPr lang="ko-KR" altLang="en-US" dirty="0"/>
              <a:t>두 개의 리스트 관리하면 됨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3FD469-6F3B-57FA-EE35-BC495EF7A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94956"/>
            <a:ext cx="3964474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01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68520-1158-0163-79BE-7731261C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0D586-0C6C-7190-A0DF-856CA6D5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 순회</a:t>
            </a:r>
            <a:r>
              <a:rPr lang="en-US" altLang="ko-KR" dirty="0"/>
              <a:t> - BFS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CF168-1986-3065-4AE1-1F79D8776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/>
          </a:p>
          <a:p>
            <a:pPr marL="457200" lvl="1" indent="0">
              <a:buNone/>
            </a:pPr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8986E-7365-0931-4FC0-0B722E398CAC}"/>
              </a:ext>
            </a:extLst>
          </p:cNvPr>
          <p:cNvSpPr txBox="1"/>
          <p:nvPr/>
        </p:nvSpPr>
        <p:spPr>
          <a:xfrm>
            <a:off x="838200" y="1492248"/>
            <a:ext cx="557489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/>
              <a:t>int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cnt</a:t>
            </a:r>
            <a:r>
              <a:rPr lang="ko-KR" altLang="en-US" sz="1600" dirty="0"/>
              <a:t>, </a:t>
            </a:r>
            <a:r>
              <a:rPr lang="ko-KR" altLang="en-US" sz="1600" dirty="0" err="1"/>
              <a:t>visited</a:t>
            </a:r>
            <a:r>
              <a:rPr lang="ko-KR" altLang="en-US" sz="1600" dirty="0"/>
              <a:t>[MAX];</a:t>
            </a:r>
          </a:p>
          <a:p>
            <a:r>
              <a:rPr lang="ko-KR" altLang="en-US" sz="1600" dirty="0" err="1"/>
              <a:t>vector</a:t>
            </a:r>
            <a:r>
              <a:rPr lang="ko-KR" altLang="en-US" sz="1600" dirty="0"/>
              <a:t>&lt;</a:t>
            </a:r>
            <a:r>
              <a:rPr lang="ko-KR" altLang="en-US" sz="1600" dirty="0" err="1"/>
              <a:t>vector</a:t>
            </a:r>
            <a:r>
              <a:rPr lang="ko-KR" altLang="en-US" sz="1600" dirty="0"/>
              <a:t>&lt;</a:t>
            </a:r>
            <a:r>
              <a:rPr lang="ko-KR" altLang="en-US" sz="1600" dirty="0" err="1"/>
              <a:t>int</a:t>
            </a:r>
            <a:r>
              <a:rPr lang="ko-KR" altLang="en-US" sz="1600" dirty="0"/>
              <a:t>&gt;&gt; </a:t>
            </a:r>
            <a:r>
              <a:rPr lang="ko-KR" altLang="en-US" sz="1600" dirty="0" err="1"/>
              <a:t>conn</a:t>
            </a:r>
            <a:r>
              <a:rPr lang="ko-KR" altLang="en-US" sz="1600" dirty="0"/>
              <a:t>(MAX);</a:t>
            </a:r>
          </a:p>
          <a:p>
            <a:endParaRPr lang="ko-KR" altLang="en-US" sz="1600" dirty="0"/>
          </a:p>
          <a:p>
            <a:r>
              <a:rPr lang="ko-KR" altLang="en-US" sz="1600" dirty="0" err="1"/>
              <a:t>int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main</a:t>
            </a:r>
            <a:r>
              <a:rPr lang="ko-KR" altLang="en-US" sz="1600" dirty="0"/>
              <a:t>() {</a:t>
            </a:r>
          </a:p>
          <a:p>
            <a:r>
              <a:rPr lang="ko-KR" altLang="en-US" sz="1600" dirty="0"/>
              <a:t>    /** </a:t>
            </a:r>
          </a:p>
          <a:p>
            <a:r>
              <a:rPr lang="ko-KR" altLang="en-US" sz="1600" dirty="0"/>
              <a:t>     * BFS</a:t>
            </a:r>
          </a:p>
          <a:p>
            <a:r>
              <a:rPr lang="ko-KR" altLang="en-US" sz="1600" dirty="0"/>
              <a:t>     * 가까운 위치의 정점부터 탐색하는 알고리즘</a:t>
            </a:r>
          </a:p>
          <a:p>
            <a:r>
              <a:rPr lang="ko-KR" altLang="en-US" sz="1600" dirty="0"/>
              <a:t>     * 방문할 수 있는 노드가 보이면 큐에 넣는다.</a:t>
            </a:r>
          </a:p>
          <a:p>
            <a:r>
              <a:rPr lang="ko-KR" altLang="en-US" sz="1600" dirty="0"/>
              <a:t>     */</a:t>
            </a:r>
          </a:p>
          <a:p>
            <a:r>
              <a:rPr lang="ko-KR" altLang="en-US" sz="1600" dirty="0"/>
              <a:t>    </a:t>
            </a:r>
            <a:r>
              <a:rPr lang="ko-KR" altLang="en-US" sz="1600" dirty="0" err="1"/>
              <a:t>queue</a:t>
            </a:r>
            <a:r>
              <a:rPr lang="ko-KR" altLang="en-US" sz="1600" dirty="0"/>
              <a:t>&lt;</a:t>
            </a:r>
            <a:r>
              <a:rPr lang="ko-KR" altLang="en-US" sz="1600" dirty="0" err="1"/>
              <a:t>int</a:t>
            </a:r>
            <a:r>
              <a:rPr lang="ko-KR" altLang="en-US" sz="1600" dirty="0"/>
              <a:t>&gt; </a:t>
            </a:r>
            <a:r>
              <a:rPr lang="ko-KR" altLang="en-US" sz="1600" dirty="0" err="1"/>
              <a:t>q</a:t>
            </a:r>
            <a:r>
              <a:rPr lang="ko-KR" altLang="en-US" sz="1600" dirty="0"/>
              <a:t>; </a:t>
            </a:r>
            <a:r>
              <a:rPr lang="ko-KR" altLang="en-US" sz="1600" dirty="0" err="1"/>
              <a:t>q.push</a:t>
            </a:r>
            <a:r>
              <a:rPr lang="ko-KR" altLang="en-US" sz="1600" dirty="0"/>
              <a:t>(</a:t>
            </a:r>
            <a:r>
              <a:rPr lang="ko-KR" altLang="en-US" sz="1600" dirty="0" err="1"/>
              <a:t>r</a:t>
            </a:r>
            <a:r>
              <a:rPr lang="ko-KR" altLang="en-US" sz="1600" dirty="0"/>
              <a:t>);</a:t>
            </a:r>
          </a:p>
          <a:p>
            <a:r>
              <a:rPr lang="ko-KR" altLang="en-US" sz="1600" dirty="0"/>
              <a:t>    </a:t>
            </a:r>
            <a:r>
              <a:rPr lang="ko-KR" altLang="en-US" sz="1600" dirty="0" err="1"/>
              <a:t>visited</a:t>
            </a:r>
            <a:r>
              <a:rPr lang="ko-KR" altLang="en-US" sz="1600" dirty="0"/>
              <a:t>[</a:t>
            </a:r>
            <a:r>
              <a:rPr lang="ko-KR" altLang="en-US" sz="1600" dirty="0" err="1"/>
              <a:t>r</a:t>
            </a:r>
            <a:r>
              <a:rPr lang="ko-KR" altLang="en-US" sz="1600" dirty="0"/>
              <a:t>] = ++</a:t>
            </a:r>
            <a:r>
              <a:rPr lang="ko-KR" altLang="en-US" sz="1600" dirty="0" err="1"/>
              <a:t>cnt</a:t>
            </a:r>
            <a:r>
              <a:rPr lang="ko-KR" altLang="en-US" sz="1600" dirty="0"/>
              <a:t>;</a:t>
            </a:r>
          </a:p>
          <a:p>
            <a:r>
              <a:rPr lang="ko-KR" altLang="en-US" sz="1600" dirty="0"/>
              <a:t>    </a:t>
            </a:r>
            <a:r>
              <a:rPr lang="ko-KR" altLang="en-US" sz="1600" dirty="0" err="1"/>
              <a:t>while</a:t>
            </a:r>
            <a:r>
              <a:rPr lang="ko-KR" altLang="en-US" sz="1600" dirty="0"/>
              <a:t>(!</a:t>
            </a:r>
            <a:r>
              <a:rPr lang="ko-KR" altLang="en-US" sz="1600" dirty="0" err="1"/>
              <a:t>q.empty</a:t>
            </a:r>
            <a:r>
              <a:rPr lang="ko-KR" altLang="en-US" sz="1600" dirty="0"/>
              <a:t>()) {</a:t>
            </a:r>
          </a:p>
          <a:p>
            <a:r>
              <a:rPr lang="ko-KR" altLang="en-US" sz="1600" dirty="0"/>
              <a:t>        </a:t>
            </a:r>
            <a:r>
              <a:rPr lang="ko-KR" altLang="en-US" sz="1600" dirty="0" err="1"/>
              <a:t>int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cur</a:t>
            </a:r>
            <a:r>
              <a:rPr lang="ko-KR" altLang="en-US" sz="1600" dirty="0"/>
              <a:t> = </a:t>
            </a:r>
            <a:r>
              <a:rPr lang="ko-KR" altLang="en-US" sz="1600" dirty="0" err="1"/>
              <a:t>q.front</a:t>
            </a:r>
            <a:r>
              <a:rPr lang="ko-KR" altLang="en-US" sz="1600" dirty="0"/>
              <a:t>(); </a:t>
            </a:r>
            <a:r>
              <a:rPr lang="ko-KR" altLang="en-US" sz="1600" dirty="0" err="1"/>
              <a:t>q.pop</a:t>
            </a:r>
            <a:r>
              <a:rPr lang="ko-KR" altLang="en-US" sz="1600" dirty="0"/>
              <a:t>();</a:t>
            </a:r>
          </a:p>
          <a:p>
            <a:r>
              <a:rPr lang="ko-KR" altLang="en-US" sz="1600" dirty="0"/>
              <a:t>        </a:t>
            </a:r>
            <a:r>
              <a:rPr lang="ko-KR" altLang="en-US" sz="1600" dirty="0" err="1"/>
              <a:t>for</a:t>
            </a:r>
            <a:r>
              <a:rPr lang="ko-KR" altLang="en-US" sz="1600" dirty="0"/>
              <a:t>(</a:t>
            </a:r>
            <a:r>
              <a:rPr lang="ko-KR" altLang="en-US" sz="1600" dirty="0" err="1"/>
              <a:t>int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next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conn</a:t>
            </a:r>
            <a:r>
              <a:rPr lang="ko-KR" altLang="en-US" sz="1600" dirty="0"/>
              <a:t>[</a:t>
            </a:r>
            <a:r>
              <a:rPr lang="ko-KR" altLang="en-US" sz="1600" dirty="0" err="1"/>
              <a:t>cur</a:t>
            </a:r>
            <a:r>
              <a:rPr lang="ko-KR" altLang="en-US" sz="1600" dirty="0"/>
              <a:t>]) {</a:t>
            </a:r>
          </a:p>
          <a:p>
            <a:r>
              <a:rPr lang="ko-KR" altLang="en-US" sz="1600" dirty="0"/>
              <a:t>            </a:t>
            </a:r>
            <a:r>
              <a:rPr lang="ko-KR" altLang="en-US" sz="1600" dirty="0" err="1"/>
              <a:t>if</a:t>
            </a:r>
            <a:r>
              <a:rPr lang="ko-KR" altLang="en-US" sz="1600" dirty="0"/>
              <a:t>(!</a:t>
            </a:r>
            <a:r>
              <a:rPr lang="ko-KR" altLang="en-US" sz="1600" dirty="0" err="1"/>
              <a:t>visited</a:t>
            </a:r>
            <a:r>
              <a:rPr lang="ko-KR" altLang="en-US" sz="1600" dirty="0"/>
              <a:t>[</a:t>
            </a:r>
            <a:r>
              <a:rPr lang="ko-KR" altLang="en-US" sz="1600" dirty="0" err="1"/>
              <a:t>next</a:t>
            </a:r>
            <a:r>
              <a:rPr lang="ko-KR" altLang="en-US" sz="1600" dirty="0"/>
              <a:t>]) { // 방문하지 않은 정점이면 방문</a:t>
            </a:r>
          </a:p>
          <a:p>
            <a:r>
              <a:rPr lang="ko-KR" altLang="en-US" sz="1600" dirty="0"/>
              <a:t>                </a:t>
            </a:r>
            <a:r>
              <a:rPr lang="ko-KR" altLang="en-US" sz="1600" dirty="0" err="1"/>
              <a:t>visited</a:t>
            </a:r>
            <a:r>
              <a:rPr lang="ko-KR" altLang="en-US" sz="1600" dirty="0"/>
              <a:t>[</a:t>
            </a:r>
            <a:r>
              <a:rPr lang="ko-KR" altLang="en-US" sz="1600" dirty="0" err="1"/>
              <a:t>next</a:t>
            </a:r>
            <a:r>
              <a:rPr lang="ko-KR" altLang="en-US" sz="1600" dirty="0"/>
              <a:t>] = ++</a:t>
            </a:r>
            <a:r>
              <a:rPr lang="ko-KR" altLang="en-US" sz="1600" dirty="0" err="1"/>
              <a:t>cnt</a:t>
            </a:r>
            <a:r>
              <a:rPr lang="ko-KR" altLang="en-US" sz="1600" dirty="0"/>
              <a:t>;</a:t>
            </a:r>
          </a:p>
          <a:p>
            <a:r>
              <a:rPr lang="ko-KR" altLang="en-US" sz="1600" dirty="0"/>
              <a:t>                </a:t>
            </a:r>
            <a:r>
              <a:rPr lang="ko-KR" altLang="en-US" sz="1600" dirty="0" err="1"/>
              <a:t>q.push</a:t>
            </a:r>
            <a:r>
              <a:rPr lang="ko-KR" altLang="en-US" sz="1600" dirty="0"/>
              <a:t>(</a:t>
            </a:r>
            <a:r>
              <a:rPr lang="ko-KR" altLang="en-US" sz="1600" dirty="0" err="1"/>
              <a:t>next</a:t>
            </a:r>
            <a:r>
              <a:rPr lang="ko-KR" altLang="en-US" sz="1600" dirty="0"/>
              <a:t>);</a:t>
            </a:r>
          </a:p>
          <a:p>
            <a:r>
              <a:rPr lang="ko-KR" altLang="en-US" sz="1600" dirty="0"/>
              <a:t>            }</a:t>
            </a:r>
          </a:p>
          <a:p>
            <a:r>
              <a:rPr lang="ko-KR" altLang="en-US" sz="1600" dirty="0"/>
              <a:t>        }</a:t>
            </a:r>
          </a:p>
          <a:p>
            <a:r>
              <a:rPr lang="ko-KR" altLang="en-US" sz="1600" dirty="0"/>
              <a:t>    }</a:t>
            </a:r>
          </a:p>
          <a:p>
            <a:r>
              <a:rPr lang="ko-KR" altLang="en-US" sz="1600" dirty="0"/>
              <a:t>}</a:t>
            </a:r>
            <a:endParaRPr lang="ko-KR" altLang="en-US" dirty="0"/>
          </a:p>
        </p:txBody>
      </p:sp>
      <p:pic>
        <p:nvPicPr>
          <p:cNvPr id="7" name="그림 6" descr="도표, 화이트, 스케치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4C6A2-BD8C-BC30-A73C-ED1C8D3D7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195" y="1197946"/>
            <a:ext cx="6097856" cy="3069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2D751A-42FD-B3AD-B450-3F5DA1E5DCC5}"/>
              </a:ext>
            </a:extLst>
          </p:cNvPr>
          <p:cNvSpPr txBox="1"/>
          <p:nvPr/>
        </p:nvSpPr>
        <p:spPr>
          <a:xfrm>
            <a:off x="1396179" y="6351861"/>
            <a:ext cx="5732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대회 </a:t>
            </a:r>
            <a:r>
              <a:rPr lang="en-US" altLang="ko-KR" sz="1200" dirty="0"/>
              <a:t>/ </a:t>
            </a:r>
            <a:r>
              <a:rPr lang="ko-KR" altLang="en-US" sz="1200" dirty="0"/>
              <a:t>코딩테스트 알고리즘 정리</a:t>
            </a:r>
            <a:r>
              <a:rPr lang="en-US" altLang="ko-KR" sz="1200" dirty="0"/>
              <a:t>, </a:t>
            </a:r>
            <a:r>
              <a:rPr lang="ko-KR" altLang="en-US" sz="1200" dirty="0"/>
              <a:t>김서진</a:t>
            </a:r>
            <a:r>
              <a:rPr lang="en-US" altLang="ko-KR" sz="1200" dirty="0"/>
              <a:t>, https://github.com/rlatjwls7882</a:t>
            </a:r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2.0 KR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B2C93-401F-217D-466B-B354C7733A1C}"/>
              </a:ext>
            </a:extLst>
          </p:cNvPr>
          <p:cNvSpPr txBox="1"/>
          <p:nvPr/>
        </p:nvSpPr>
        <p:spPr>
          <a:xfrm>
            <a:off x="6914584" y="4303598"/>
            <a:ext cx="39377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https://www.codecademy.com/article/bfs-vs-dfs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28875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3D383-F0B2-2E06-F8E9-D3038119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B1037-1FAF-B034-4DB3-74BEDEE2A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 순회</a:t>
            </a:r>
            <a:r>
              <a:rPr lang="en-US" altLang="ko-KR" dirty="0"/>
              <a:t> – DFS (</a:t>
            </a:r>
            <a:r>
              <a:rPr lang="ko-KR" altLang="en-US" dirty="0"/>
              <a:t>재귀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B7CF0-3B86-6106-060D-02572E9FD924}"/>
              </a:ext>
            </a:extLst>
          </p:cNvPr>
          <p:cNvSpPr txBox="1"/>
          <p:nvPr/>
        </p:nvSpPr>
        <p:spPr>
          <a:xfrm>
            <a:off x="838200" y="1492248"/>
            <a:ext cx="557489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int </a:t>
            </a:r>
            <a:r>
              <a:rPr lang="en-US" altLang="ko-KR" sz="1600" dirty="0" err="1"/>
              <a:t>cnt</a:t>
            </a:r>
            <a:r>
              <a:rPr lang="en-US" altLang="ko-KR" sz="1600" dirty="0"/>
              <a:t>, visited[MAX];</a:t>
            </a:r>
          </a:p>
          <a:p>
            <a:r>
              <a:rPr lang="en-US" altLang="ko-KR" sz="1600" dirty="0"/>
              <a:t>vector&lt;vector&lt;int&gt;&gt; conn(MAX);</a:t>
            </a:r>
          </a:p>
          <a:p>
            <a:endParaRPr lang="en-US" altLang="ko-KR" sz="1600" dirty="0"/>
          </a:p>
          <a:p>
            <a:r>
              <a:rPr lang="en-US" altLang="ko-KR" sz="1600" dirty="0"/>
              <a:t>/** </a:t>
            </a:r>
          </a:p>
          <a:p>
            <a:r>
              <a:rPr lang="en-US" altLang="ko-KR" sz="1600" dirty="0"/>
              <a:t> * DFS</a:t>
            </a:r>
          </a:p>
          <a:p>
            <a:r>
              <a:rPr lang="en-US" altLang="ko-KR" sz="1600" dirty="0"/>
              <a:t> * </a:t>
            </a:r>
            <a:r>
              <a:rPr lang="ko-KR" altLang="en-US" sz="1600" dirty="0"/>
              <a:t>방문할 수 있는 노드가 보이면 이동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* </a:t>
            </a:r>
            <a:r>
              <a:rPr lang="ko-KR" altLang="en-US" sz="1600" dirty="0"/>
              <a:t>방문할 수 있는 노드가 보이지 않으면 다시 뒤로 되돌아감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* </a:t>
            </a:r>
            <a:r>
              <a:rPr lang="ko-KR" altLang="en-US" sz="1600" dirty="0"/>
              <a:t>미로 찾기에서 왼손의 법칙을 쓰는 것과 같음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*/</a:t>
            </a:r>
          </a:p>
          <a:p>
            <a:r>
              <a:rPr lang="en-US" altLang="ko-KR" sz="1600" dirty="0"/>
              <a:t>void </a:t>
            </a:r>
            <a:r>
              <a:rPr lang="en-US" altLang="ko-KR" sz="1600" dirty="0" err="1"/>
              <a:t>dfs</a:t>
            </a:r>
            <a:r>
              <a:rPr lang="en-US" altLang="ko-KR" sz="1600" dirty="0"/>
              <a:t>(int cur) {</a:t>
            </a:r>
          </a:p>
          <a:p>
            <a:r>
              <a:rPr lang="en-US" altLang="ko-KR" sz="1600" dirty="0"/>
              <a:t>    visited[cur] = ++</a:t>
            </a:r>
            <a:r>
              <a:rPr lang="en-US" altLang="ko-KR" sz="1600" dirty="0" err="1"/>
              <a:t>cnt</a:t>
            </a:r>
            <a:r>
              <a:rPr lang="en-US" altLang="ko-KR" sz="1600" dirty="0"/>
              <a:t>; // </a:t>
            </a:r>
            <a:r>
              <a:rPr lang="ko-KR" altLang="en-US" sz="1600" dirty="0"/>
              <a:t>방문 순서 마킹</a:t>
            </a:r>
          </a:p>
          <a:p>
            <a:r>
              <a:rPr lang="ko-KR" altLang="en-US" sz="1600" dirty="0"/>
              <a:t>    </a:t>
            </a:r>
            <a:r>
              <a:rPr lang="en-US" altLang="ko-KR" sz="1600" dirty="0"/>
              <a:t>for(int </a:t>
            </a:r>
            <a:r>
              <a:rPr lang="en-US" altLang="ko-KR" sz="1600" dirty="0" err="1"/>
              <a:t>next:conn</a:t>
            </a:r>
            <a:r>
              <a:rPr lang="en-US" altLang="ko-KR" sz="1600" dirty="0"/>
              <a:t>[cur]) {</a:t>
            </a:r>
          </a:p>
          <a:p>
            <a:r>
              <a:rPr lang="en-US" altLang="ko-KR" sz="1600" dirty="0"/>
              <a:t>        if(!visited[next]) { // </a:t>
            </a:r>
            <a:r>
              <a:rPr lang="ko-KR" altLang="en-US" sz="1600" dirty="0"/>
              <a:t>방문하지 않은 정점이면 방문</a:t>
            </a:r>
          </a:p>
          <a:p>
            <a:r>
              <a:rPr lang="ko-KR" altLang="en-US" sz="1600" dirty="0"/>
              <a:t>            </a:t>
            </a:r>
            <a:r>
              <a:rPr lang="en-US" altLang="ko-KR" sz="1600" dirty="0" err="1"/>
              <a:t>dfs</a:t>
            </a:r>
            <a:r>
              <a:rPr lang="en-US" altLang="ko-KR" sz="1600" dirty="0"/>
              <a:t>(next);</a:t>
            </a:r>
          </a:p>
          <a:p>
            <a:r>
              <a:rPr lang="en-US" altLang="ko-KR" sz="1600" dirty="0"/>
              <a:t>        }</a:t>
            </a:r>
          </a:p>
          <a:p>
            <a:r>
              <a:rPr lang="en-US" altLang="ko-KR" sz="1600" dirty="0"/>
              <a:t>    }</a:t>
            </a:r>
          </a:p>
          <a:p>
            <a:r>
              <a:rPr lang="en-US" altLang="ko-KR" sz="16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02815-4636-8C98-FC93-698E3068AC70}"/>
              </a:ext>
            </a:extLst>
          </p:cNvPr>
          <p:cNvSpPr txBox="1"/>
          <p:nvPr/>
        </p:nvSpPr>
        <p:spPr>
          <a:xfrm>
            <a:off x="838200" y="6139674"/>
            <a:ext cx="5732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대회 </a:t>
            </a:r>
            <a:r>
              <a:rPr lang="en-US" altLang="ko-KR" sz="1200" dirty="0"/>
              <a:t>/ </a:t>
            </a:r>
            <a:r>
              <a:rPr lang="ko-KR" altLang="en-US" sz="1200" dirty="0"/>
              <a:t>코딩테스트 알고리즘 정리</a:t>
            </a:r>
            <a:r>
              <a:rPr lang="en-US" altLang="ko-KR" sz="1200" dirty="0"/>
              <a:t>, </a:t>
            </a:r>
            <a:r>
              <a:rPr lang="ko-KR" altLang="en-US" sz="1200" dirty="0"/>
              <a:t>김서진</a:t>
            </a:r>
            <a:r>
              <a:rPr lang="en-US" altLang="ko-KR" sz="1200" dirty="0"/>
              <a:t>, https://github.com/rlatjwls7882</a:t>
            </a:r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2.0 KR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00AF3-8438-FE6C-5B0E-E3B5688A7ECA}"/>
              </a:ext>
            </a:extLst>
          </p:cNvPr>
          <p:cNvSpPr txBox="1"/>
          <p:nvPr/>
        </p:nvSpPr>
        <p:spPr>
          <a:xfrm>
            <a:off x="7096432" y="5262406"/>
            <a:ext cx="4257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:</a:t>
            </a:r>
            <a:r>
              <a:rPr lang="ko-KR" altLang="en-US" dirty="0"/>
              <a:t>https://nukw0n-dev.tistory.com/5</a:t>
            </a:r>
          </a:p>
        </p:txBody>
      </p:sp>
      <p:pic>
        <p:nvPicPr>
          <p:cNvPr id="8" name="그림 7" descr="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9112AF-E64F-155F-741D-662ADAE11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090" y="1690688"/>
            <a:ext cx="5574890" cy="324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1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BA86-1647-FA49-DCD7-00F97B1C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22D51-BCF4-B000-6DE1-D938A225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 순회</a:t>
            </a:r>
            <a:r>
              <a:rPr lang="en-US" altLang="ko-KR" dirty="0"/>
              <a:t> – DFS (</a:t>
            </a:r>
            <a:r>
              <a:rPr lang="ko-KR" altLang="en-US" dirty="0"/>
              <a:t>스택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C31B3F-2C7A-B1A9-1A86-FFE20174B602}"/>
              </a:ext>
            </a:extLst>
          </p:cNvPr>
          <p:cNvSpPr txBox="1"/>
          <p:nvPr/>
        </p:nvSpPr>
        <p:spPr>
          <a:xfrm>
            <a:off x="838200" y="1722338"/>
            <a:ext cx="557489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stack&lt;int&gt; q;</a:t>
            </a:r>
          </a:p>
          <a:p>
            <a:r>
              <a:rPr lang="en-US" altLang="ko-KR" sz="1600" dirty="0" err="1"/>
              <a:t>q.push</a:t>
            </a:r>
            <a:r>
              <a:rPr lang="en-US" altLang="ko-KR" sz="1600" dirty="0"/>
              <a:t>(0);</a:t>
            </a:r>
          </a:p>
          <a:p>
            <a:r>
              <a:rPr lang="en-US" altLang="ko-KR" sz="1600" dirty="0"/>
              <a:t>vector&lt;bool&gt; visited(</a:t>
            </a:r>
            <a:r>
              <a:rPr lang="en-US" altLang="ko-KR" sz="1600" dirty="0" err="1"/>
              <a:t>graph.size</a:t>
            </a:r>
            <a:r>
              <a:rPr lang="en-US" altLang="ko-KR" sz="1600" dirty="0"/>
              <a:t>(), false);</a:t>
            </a:r>
          </a:p>
          <a:p>
            <a:endParaRPr lang="en-US" altLang="ko-KR" sz="1600" dirty="0"/>
          </a:p>
          <a:p>
            <a:r>
              <a:rPr lang="en-US" altLang="ko-KR" sz="1600" dirty="0"/>
              <a:t>while (!</a:t>
            </a:r>
            <a:r>
              <a:rPr lang="en-US" altLang="ko-KR" sz="1600" dirty="0" err="1"/>
              <a:t>q.empty</a:t>
            </a:r>
            <a:r>
              <a:rPr lang="en-US" altLang="ko-KR" sz="1600" dirty="0"/>
              <a:t>()) {</a:t>
            </a:r>
          </a:p>
          <a:p>
            <a:r>
              <a:rPr lang="en-US" altLang="ko-KR" sz="1600" dirty="0"/>
              <a:t>    int node = </a:t>
            </a:r>
            <a:r>
              <a:rPr lang="en-US" altLang="ko-KR" sz="1600" dirty="0" err="1"/>
              <a:t>q.top</a:t>
            </a:r>
            <a:r>
              <a:rPr lang="en-US" altLang="ko-KR" sz="1600" dirty="0"/>
              <a:t>();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q.pop</a:t>
            </a:r>
            <a:r>
              <a:rPr lang="en-US" altLang="ko-KR" sz="1600" dirty="0"/>
              <a:t>();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  if (visited[node]) </a:t>
            </a:r>
          </a:p>
          <a:p>
            <a:r>
              <a:rPr lang="en-US" altLang="ko-KR" sz="1600" dirty="0"/>
              <a:t>        continue;</a:t>
            </a:r>
          </a:p>
          <a:p>
            <a:r>
              <a:rPr lang="en-US" altLang="ko-KR" sz="1600" dirty="0"/>
              <a:t>        </a:t>
            </a:r>
          </a:p>
          <a:p>
            <a:r>
              <a:rPr lang="en-US" altLang="ko-KR" sz="1600" dirty="0"/>
              <a:t>    visited[node] = true;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  for (int </a:t>
            </a:r>
            <a:r>
              <a:rPr lang="en-US" altLang="ko-KR" sz="1600" dirty="0" err="1"/>
              <a:t>nextNode</a:t>
            </a:r>
            <a:r>
              <a:rPr lang="en-US" altLang="ko-KR" sz="1600" dirty="0"/>
              <a:t>: graph[node]) {</a:t>
            </a:r>
          </a:p>
          <a:p>
            <a:r>
              <a:rPr lang="en-US" altLang="ko-KR" sz="1600" dirty="0"/>
              <a:t>        if (visited[</a:t>
            </a:r>
            <a:r>
              <a:rPr lang="en-US" altLang="ko-KR" sz="1600" dirty="0" err="1"/>
              <a:t>nextNode</a:t>
            </a:r>
            <a:r>
              <a:rPr lang="en-US" altLang="ko-KR" sz="1600" dirty="0"/>
              <a:t>]) </a:t>
            </a:r>
          </a:p>
          <a:p>
            <a:r>
              <a:rPr lang="en-US" altLang="ko-KR" sz="1600" dirty="0"/>
              <a:t>            continue;</a:t>
            </a:r>
          </a:p>
          <a:p>
            <a:r>
              <a:rPr lang="en-US" altLang="ko-KR" sz="1600" dirty="0"/>
              <a:t>        </a:t>
            </a:r>
            <a:r>
              <a:rPr lang="en-US" altLang="ko-KR" sz="1600" dirty="0" err="1"/>
              <a:t>q.push</a:t>
            </a:r>
            <a:r>
              <a:rPr lang="en-US" altLang="ko-KR" sz="1600" dirty="0"/>
              <a:t>(</a:t>
            </a:r>
            <a:r>
              <a:rPr lang="en-US" altLang="ko-KR" sz="1600" dirty="0" err="1"/>
              <a:t>nextNode</a:t>
            </a:r>
            <a:r>
              <a:rPr lang="en-US" altLang="ko-KR" sz="1600" dirty="0"/>
              <a:t>);</a:t>
            </a:r>
          </a:p>
          <a:p>
            <a:r>
              <a:rPr lang="en-US" altLang="ko-KR" sz="1600" dirty="0"/>
              <a:t>   }</a:t>
            </a:r>
          </a:p>
          <a:p>
            <a:r>
              <a:rPr lang="en-US" altLang="ko-KR" sz="1600" dirty="0"/>
              <a:t>}</a:t>
            </a:r>
          </a:p>
        </p:txBody>
      </p:sp>
      <p:pic>
        <p:nvPicPr>
          <p:cNvPr id="7" name="그림 6" descr="도표, 원, 스케치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16CA33-9BD2-B6A3-3F3F-766395431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607" y="1494248"/>
            <a:ext cx="6371302" cy="38695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A803A4-89FC-BF63-143F-F19900E9FD73}"/>
              </a:ext>
            </a:extLst>
          </p:cNvPr>
          <p:cNvSpPr txBox="1"/>
          <p:nvPr/>
        </p:nvSpPr>
        <p:spPr>
          <a:xfrm>
            <a:off x="6196830" y="5395402"/>
            <a:ext cx="39377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https://www.codecademy.com/article/bfs-vs-dfs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3628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2012</TotalTime>
  <Words>737</Words>
  <Application>Microsoft Office PowerPoint</Application>
  <PresentationFormat>와이드스크린</PresentationFormat>
  <Paragraphs>113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자구&amp;알고 스터디</vt:lpstr>
      <vt:lpstr>그래프</vt:lpstr>
      <vt:lpstr>그래프 관련 용어</vt:lpstr>
      <vt:lpstr>그래프 모양</vt:lpstr>
      <vt:lpstr>그래프 문제 예시</vt:lpstr>
      <vt:lpstr>그래프 표현 방법 – 인접 행렬</vt:lpstr>
      <vt:lpstr>그래프 표현 방법 – 인접 리스트</vt:lpstr>
      <vt:lpstr>그래프 순회 - BFS</vt:lpstr>
      <vt:lpstr>그래프 순회 – DFS (재귀) </vt:lpstr>
      <vt:lpstr>그래프 순회 – DFS (스택)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이태규</dc:creator>
  <cp:lastModifiedBy>이태규</cp:lastModifiedBy>
  <cp:revision>594</cp:revision>
  <dcterms:created xsi:type="dcterms:W3CDTF">2025-09-07T07:21:38Z</dcterms:created>
  <dcterms:modified xsi:type="dcterms:W3CDTF">2025-11-10T08:45:53Z</dcterms:modified>
</cp:coreProperties>
</file>