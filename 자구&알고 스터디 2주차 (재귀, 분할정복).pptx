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9" r:id="rId4"/>
    <p:sldId id="271" r:id="rId5"/>
    <p:sldId id="272" r:id="rId6"/>
    <p:sldId id="262" r:id="rId7"/>
    <p:sldId id="261" r:id="rId8"/>
    <p:sldId id="264" r:id="rId9"/>
    <p:sldId id="258" r:id="rId10"/>
    <p:sldId id="266" r:id="rId11"/>
    <p:sldId id="269" r:id="rId12"/>
    <p:sldId id="270" r:id="rId13"/>
    <p:sldId id="268" r:id="rId14"/>
    <p:sldId id="26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AC852-3943-4D51-80F6-C4AAF313C63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DA249-7C39-4352-9E45-C2A700C6EF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437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91600-1290-79B0-79CC-7E2CFBA37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C8A10-28B2-6B33-723A-C8228B0D4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FAC2E-4229-0574-0B42-75CD03D4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49B39-723D-8DC0-4E9D-EFFAF1E2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83DE1-650A-36F6-6C03-CDFDC6EB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81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9DE04-2E55-0B3E-F3C6-D3315898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2656D-974E-264F-566D-87DD7CA1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08C91-5F7C-2B73-5157-2DFEE482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BA6AD-96B7-F377-55EF-A2DBD772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7D60F2-8AD5-06E6-9767-27C8FCBC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60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E23D1-089F-9926-9265-0A911F9A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3E1A64-96C0-855D-2661-A0FEFF369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EFFDC-E59A-31C5-809B-72C1D2CD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C5ECF-1952-9C24-4222-DE41CC40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4F296-578E-79BD-2D9B-B6647C8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8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85772-9DD8-F373-2D4C-4174C8AA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92EF5-CA5C-79CC-71E3-B68626ED7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3A2304-0129-4DC7-6BE8-125BB259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1789E6-D8EC-7B16-E02C-EFAA587A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E5B10E-627D-7A59-3BD4-7B7EDC0F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D17AE4-CDD5-B47F-CD44-8E54175A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92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1898D-D98F-C86E-2F24-743E8C05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F86ED-8CD1-3ADE-35D1-40DD3646A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D91F8E-CCA0-FAAF-6050-57CB6B266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49BED6-C560-D0B7-3083-9C946B560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4ABFF0-3842-262E-DBE1-C0FDD14E1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9AF9FE-E75B-B59B-771A-C19D60C5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830B46-E655-777C-DD63-EC05DC46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7D3442-D774-6A4B-962B-F495F8F1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63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C544B-5293-1FFF-20E0-3B48D350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81B5F6-E3E9-B6AA-D3F4-5F44FE37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63984E-5335-A94F-40FF-B8860ACE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B2E13A-C8CB-6C60-82D5-4AB56A8F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6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AA4128-7C05-07B2-0AB7-F5EA709D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5B2FD-0635-9306-63B7-495C25F4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7B179B-2404-8F11-7315-3856C2D0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5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B9E0D-A985-199A-30C9-5455E963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3E9A32-6091-B4D7-2A95-56593DE1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A524D-AFA8-E687-BC6D-E4E1D5B3D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6CB03-E1F3-3453-4B15-56D3145D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CADDD-B757-E3AD-A0DE-33585448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4C2ED-274C-A116-62F3-B5889897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85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6A49B-7C3A-795A-D97A-F1B0DCBA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46C7ED-D1EA-E03C-62E6-5D5322C93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C0C8E8-83F5-7D6E-94BF-3A6899179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B2579B-256E-AA8A-B1F6-C26F3A26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BC8E4-8FDF-8572-035B-FEA7EA87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AF9882-077A-CAC2-F083-8E23ABEE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1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54073-27B2-5F4F-4C1D-A5359877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B4666-EB99-D106-12F4-BF4B4617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002B9-6BF5-17F8-BCB8-D189109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4B879F-6566-0BDF-0D4B-5C3BC2E3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FD1B1-B85D-94DF-6190-5EDF3B0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56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3C1A51-AA07-93A1-B2BA-1AE95DD7E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4E7333-0723-2509-4B18-0ED9653ED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EE390-8EFE-325F-4E92-34B63FFE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0D9B9-17B9-3E9A-ECC0-B8B8C280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722C0-040D-30ED-49D5-D39296C3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1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036321-93C5-32E8-43F1-95B9D8E4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93689C-20E1-2835-A92B-5B87C4747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D60AD-4BEF-863F-CE9F-4A934AA1C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42074-AB8A-4DE3-842B-2B238FAEC81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BF470F-2FD6-C59C-DC61-3266505C3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5973C-09A2-0401-1519-0C4272B6D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0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274fa52aecb6428e8fdc743a57c05550" TargetMode="External"/><Relationship Id="rId2" Type="http://schemas.openxmlformats.org/officeDocument/2006/relationships/hyperlink" Target="https://www.acmicpc.net/problem/2743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oj.kr/17d872eff05a4296bf834aab54a9097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6ec96420913547fca1615d2215add62b" TargetMode="External"/><Relationship Id="rId2" Type="http://schemas.openxmlformats.org/officeDocument/2006/relationships/hyperlink" Target="https://www.acmicpc.net/problem/1629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://boj.kr/f2fced4ddffb45ed9593a3155e8e459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step/20" TargetMode="External"/><Relationship Id="rId2" Type="http://schemas.openxmlformats.org/officeDocument/2006/relationships/hyperlink" Target="https://www.acmicpc.net/step/1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F43CA-A23F-1B98-C63A-0791B16D14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자구</a:t>
            </a:r>
            <a:r>
              <a:rPr lang="en-US" altLang="ko-KR" dirty="0"/>
              <a:t>&amp;</a:t>
            </a:r>
            <a:r>
              <a:rPr lang="ko-KR" altLang="en-US" dirty="0"/>
              <a:t>알고 스터디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7C2082-1E01-80C1-C0E4-FDA571708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3619291"/>
            <a:ext cx="8229600" cy="1655762"/>
          </a:xfrm>
        </p:spPr>
        <p:txBody>
          <a:bodyPr/>
          <a:lstStyle/>
          <a:p>
            <a:r>
              <a:rPr lang="ko-KR" altLang="en-US" dirty="0"/>
              <a:t>재귀 </a:t>
            </a:r>
            <a:r>
              <a:rPr lang="en-US" altLang="ko-KR" dirty="0"/>
              <a:t>(Recursive)</a:t>
            </a:r>
          </a:p>
          <a:p>
            <a:r>
              <a:rPr lang="ko-KR" altLang="en-US" dirty="0"/>
              <a:t>분할 정복 </a:t>
            </a:r>
            <a:r>
              <a:rPr lang="en-US" altLang="ko-KR" dirty="0"/>
              <a:t>(Divide And Conquer)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00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51AD3-338F-0E5E-C287-A0491365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2E3CA-E15E-0DE9-3C98-8C69233AA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787" y="2831689"/>
            <a:ext cx="6076336" cy="3345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학생이 책을 찾음 → 교실에 없어서 옆 반에 부탁  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/>
              <a:t>2. </a:t>
            </a:r>
            <a:r>
              <a:rPr lang="ko-KR" altLang="en-US" sz="2000" dirty="0"/>
              <a:t>옆 반에 없어서 또 옆 반에 부탁  </a:t>
            </a:r>
          </a:p>
          <a:p>
            <a:pPr marL="0" indent="0">
              <a:buNone/>
            </a:pPr>
            <a:r>
              <a:rPr lang="ko-KR" altLang="en-US" sz="2000" dirty="0"/>
              <a:t>        </a:t>
            </a:r>
            <a:r>
              <a:rPr lang="en-US" altLang="ko-KR" sz="2000" dirty="0"/>
              <a:t>3. </a:t>
            </a:r>
            <a:r>
              <a:rPr lang="ko-KR" altLang="en-US" sz="2000" dirty="0"/>
              <a:t>또 없어서 도서관에 부탁  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4. </a:t>
            </a:r>
            <a:r>
              <a:rPr lang="ko-KR" altLang="en-US" sz="2000" dirty="0"/>
              <a:t>도서관에 책이 있어서 찾음  </a:t>
            </a:r>
          </a:p>
          <a:p>
            <a:pPr marL="0" indent="0">
              <a:buNone/>
            </a:pPr>
            <a:r>
              <a:rPr lang="ko-KR" altLang="en-US" sz="2000" dirty="0"/>
              <a:t>        → </a:t>
            </a:r>
            <a:r>
              <a:rPr lang="en-US" altLang="ko-KR" sz="2000" dirty="0"/>
              <a:t>3. </a:t>
            </a:r>
            <a:r>
              <a:rPr lang="ko-KR" altLang="en-US" sz="2000" dirty="0"/>
              <a:t>옆 반으로 책 전달  </a:t>
            </a:r>
          </a:p>
          <a:p>
            <a:pPr marL="0" indent="0">
              <a:buNone/>
            </a:pPr>
            <a:r>
              <a:rPr lang="ko-KR" altLang="en-US" sz="2000" dirty="0"/>
              <a:t>    → </a:t>
            </a:r>
            <a:r>
              <a:rPr lang="en-US" altLang="ko-KR" sz="2000" dirty="0"/>
              <a:t>2. </a:t>
            </a:r>
            <a:r>
              <a:rPr lang="ko-KR" altLang="en-US" sz="2000" dirty="0"/>
              <a:t>다시 첫 번째 옆 반으로 전달  </a:t>
            </a:r>
          </a:p>
          <a:p>
            <a:pPr marL="0" indent="0">
              <a:buNone/>
            </a:pPr>
            <a:r>
              <a:rPr lang="ko-KR" altLang="en-US" sz="2000" dirty="0"/>
              <a:t>→ </a:t>
            </a:r>
            <a:r>
              <a:rPr lang="en-US" altLang="ko-KR" sz="2000" dirty="0"/>
              <a:t>1. </a:t>
            </a:r>
            <a:r>
              <a:rPr lang="ko-KR" altLang="en-US" sz="2000" dirty="0"/>
              <a:t>학생이 책을 받음</a:t>
            </a:r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7C196E-5B12-F54E-C588-7BEACC116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95088" y="2487561"/>
            <a:ext cx="4639596" cy="40053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/>
              <a:t>string </a:t>
            </a:r>
            <a:r>
              <a:rPr lang="en-US" altLang="ko-KR" sz="2000" dirty="0" err="1"/>
              <a:t>findBook</a:t>
            </a:r>
            <a:r>
              <a:rPr lang="en-US" altLang="ko-KR" sz="2000" dirty="0"/>
              <a:t>(Room current) {</a:t>
            </a:r>
          </a:p>
          <a:p>
            <a:pPr marL="0" indent="0">
              <a:buNone/>
            </a:pPr>
            <a:r>
              <a:rPr lang="en-US" altLang="ko-KR" sz="2000" dirty="0"/>
              <a:t>    // base case: </a:t>
            </a:r>
            <a:r>
              <a:rPr lang="ko-KR" altLang="en-US" sz="2000" dirty="0"/>
              <a:t>책이 있으면 바로 반환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/>
              <a:t>if (</a:t>
            </a:r>
            <a:r>
              <a:rPr lang="en-US" altLang="ko-KR" sz="2000" dirty="0" err="1"/>
              <a:t>current.hasBook</a:t>
            </a:r>
            <a:r>
              <a:rPr lang="en-US" altLang="ko-KR" sz="2000" dirty="0"/>
              <a:t>())</a:t>
            </a:r>
          </a:p>
          <a:p>
            <a:pPr marL="0" indent="0">
              <a:buNone/>
            </a:pPr>
            <a:r>
              <a:rPr lang="en-US" altLang="ko-KR" sz="2000" dirty="0"/>
              <a:t>        return "</a:t>
            </a:r>
            <a:r>
              <a:rPr lang="ko-KR" altLang="en-US" sz="2000" dirty="0"/>
              <a:t>책 발견</a:t>
            </a:r>
            <a:r>
              <a:rPr lang="en-US" altLang="ko-KR" sz="2000" dirty="0"/>
              <a:t>!";</a:t>
            </a:r>
          </a:p>
          <a:p>
            <a:pPr marL="0" indent="0">
              <a:buNone/>
            </a:pPr>
            <a:r>
              <a:rPr lang="en-US" altLang="ko-KR" sz="2000" dirty="0"/>
              <a:t>    // </a:t>
            </a:r>
            <a:r>
              <a:rPr lang="ko-KR" altLang="en-US" sz="2000" dirty="0"/>
              <a:t>더 이상 옆 방이 없으면 실패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/>
              <a:t>if (</a:t>
            </a:r>
            <a:r>
              <a:rPr lang="en-US" altLang="ko-KR" sz="2000" dirty="0" err="1"/>
              <a:t>current.nextRoom</a:t>
            </a:r>
            <a:r>
              <a:rPr lang="en-US" altLang="ko-KR" sz="2000" dirty="0"/>
              <a:t> == NULL)</a:t>
            </a:r>
          </a:p>
          <a:p>
            <a:pPr marL="0" indent="0">
              <a:buNone/>
            </a:pPr>
            <a:r>
              <a:rPr lang="en-US" altLang="ko-KR" sz="2000" dirty="0"/>
              <a:t>        return "</a:t>
            </a:r>
            <a:r>
              <a:rPr lang="ko-KR" altLang="en-US" sz="2000" dirty="0"/>
              <a:t>책 없음</a:t>
            </a:r>
            <a:r>
              <a:rPr lang="en-US" altLang="ko-KR" sz="2000" dirty="0"/>
              <a:t>";</a:t>
            </a:r>
          </a:p>
          <a:p>
            <a:pPr marL="0" indent="0">
              <a:buNone/>
            </a:pPr>
            <a:r>
              <a:rPr lang="en-US" altLang="ko-KR" sz="2000" dirty="0"/>
              <a:t>    // </a:t>
            </a:r>
            <a:r>
              <a:rPr lang="ko-KR" altLang="en-US" sz="2000" dirty="0"/>
              <a:t>재귀적으로 옆 방에 부탁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/>
              <a:t>return </a:t>
            </a:r>
            <a:r>
              <a:rPr lang="en-US" altLang="ko-KR" sz="2000" dirty="0" err="1"/>
              <a:t>findBook</a:t>
            </a:r>
            <a:r>
              <a:rPr lang="en-US" altLang="ko-KR" sz="2000" dirty="0"/>
              <a:t>(</a:t>
            </a:r>
            <a:r>
              <a:rPr lang="en-US" altLang="ko-KR" sz="2000" dirty="0" err="1"/>
              <a:t>current.nextRoom</a:t>
            </a:r>
            <a:r>
              <a:rPr lang="en-US" altLang="ko-KR" sz="2000" dirty="0"/>
              <a:t>);</a:t>
            </a:r>
          </a:p>
          <a:p>
            <a:pPr marL="0" indent="0">
              <a:buNone/>
            </a:pPr>
            <a:r>
              <a:rPr lang="en-US" altLang="ko-KR" sz="2000" dirty="0"/>
              <a:t>}</a:t>
            </a:r>
            <a:endParaRPr lang="ko-KR" altLang="en-US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605EA8D-3AAA-DB30-CF24-78FCE2B95839}"/>
              </a:ext>
            </a:extLst>
          </p:cNvPr>
          <p:cNvSpPr txBox="1">
            <a:spLocks/>
          </p:cNvSpPr>
          <p:nvPr/>
        </p:nvSpPr>
        <p:spPr>
          <a:xfrm>
            <a:off x="404351" y="1542744"/>
            <a:ext cx="10931013" cy="9448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자기 자신을 호출하는 함수</a:t>
            </a:r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3F5F9B3-38D6-DF77-9F24-9C89699B7DFD}"/>
              </a:ext>
            </a:extLst>
          </p:cNvPr>
          <p:cNvSpPr/>
          <p:nvPr/>
        </p:nvSpPr>
        <p:spPr>
          <a:xfrm>
            <a:off x="5771536" y="4504325"/>
            <a:ext cx="1465007" cy="324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1C9AE-2EDD-FD1B-FC07-0513F3A25F54}"/>
              </a:ext>
            </a:extLst>
          </p:cNvPr>
          <p:cNvSpPr txBox="1"/>
          <p:nvPr/>
        </p:nvSpPr>
        <p:spPr>
          <a:xfrm>
            <a:off x="737418" y="5899963"/>
            <a:ext cx="5604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https://everything2.com/index.pl?node_id=477013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5771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3F2B1-8149-838A-9A83-6FEBCC6B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68E1F0-95C1-2B6C-43DB-AA55A2FE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EF022A7-4B37-37DD-155C-571C7FDE91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4732"/>
                <a:ext cx="10515600" cy="4750094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접근하려는 문제가 똑같은 문제로 나눌 수 있을 때 유용함</a:t>
                </a:r>
                <a:endParaRPr lang="en-US" altLang="ko-KR" dirty="0"/>
              </a:p>
              <a:p>
                <a:pPr lvl="1"/>
                <a:r>
                  <a:rPr lang="ko-KR" altLang="en-US" dirty="0" err="1"/>
                  <a:t>점화식</a:t>
                </a:r>
                <a:r>
                  <a:rPr lang="ko-KR" altLang="en-US" dirty="0"/>
                  <a:t> 계산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완전 탐색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반복문으로 하기 힘든 작업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등등에서 사용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ex. 1~5 </a:t>
                </a:r>
                <a:r>
                  <a:rPr lang="ko-KR" altLang="en-US" dirty="0"/>
                  <a:t>까지 </a:t>
                </a:r>
                <a:r>
                  <a:rPr lang="ko-KR" altLang="en-US" dirty="0" err="1"/>
                  <a:t>더하시오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이 문제는 </a:t>
                </a:r>
                <a:r>
                  <a:rPr lang="en-US" altLang="ko-KR" dirty="0"/>
                  <a:t>“1~4 </a:t>
                </a:r>
                <a:r>
                  <a:rPr lang="ko-KR" altLang="en-US" dirty="0"/>
                  <a:t>까지 더한 뒤</a:t>
                </a:r>
                <a:r>
                  <a:rPr lang="en-US" altLang="ko-KR" dirty="0"/>
                  <a:t> 5 </a:t>
                </a:r>
                <a:r>
                  <a:rPr lang="ko-KR" altLang="en-US" dirty="0"/>
                  <a:t>를 </a:t>
                </a:r>
                <a:r>
                  <a:rPr lang="ko-KR" altLang="en-US" dirty="0" err="1"/>
                  <a:t>더하시오</a:t>
                </a:r>
                <a:r>
                  <a:rPr lang="en-US" altLang="ko-KR" dirty="0"/>
                  <a:t>”</a:t>
                </a:r>
                <a:r>
                  <a:rPr lang="ko-KR" altLang="en-US" dirty="0"/>
                  <a:t>로 문제를 나눌 수 있음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ex. </a:t>
                </a:r>
                <a:r>
                  <a:rPr lang="ko-KR" altLang="en-US" dirty="0"/>
                  <a:t>피보나치 수열 구하기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dirty="0"/>
                      <m:t>ex</m:t>
                    </m:r>
                    <m:r>
                      <m:rPr>
                        <m:nor/>
                      </m:rPr>
                      <a:rPr lang="en-US" altLang="ko-KR" dirty="0"/>
                      <m:t>.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팩토리얼</m:t>
                    </m:r>
                    <m:r>
                      <m:rPr>
                        <m:nor/>
                      </m:rPr>
                      <a:rPr lang="ko-KR" altLang="en-US" dirty="0"/>
                      <m:t> 구하기</m:t>
                    </m:r>
                  </m:oMath>
                </a14:m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ko-KR" dirty="0"/>
              </a:p>
              <a:p>
                <a:r>
                  <a:rPr lang="ko-KR" altLang="en-US" dirty="0"/>
                  <a:t>접근하려는 문제를 단계별로 접근할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이전 단계를 똑같은 문제로 접근하려 할 때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EF022A7-4B37-37DD-155C-571C7FDE91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4732"/>
                <a:ext cx="10515600" cy="4750094"/>
              </a:xfrm>
              <a:blipFill>
                <a:blip r:embed="rId2"/>
                <a:stretch>
                  <a:fillRect l="-1043" t="-2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16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30E1D-ABAE-F174-78ED-0E6E6247C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E5FEC-E25C-54B6-6279-BCD72474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D03D8-7AB3-D69A-5AFE-D5D50E294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베이스 케이스</a:t>
            </a:r>
            <a:r>
              <a:rPr lang="en-US" altLang="ko-KR" dirty="0"/>
              <a:t>: </a:t>
            </a:r>
            <a:r>
              <a:rPr lang="ko-KR" altLang="en-US" dirty="0"/>
              <a:t>재귀 호출을 멈추는 조건</a:t>
            </a:r>
            <a:endParaRPr lang="en-US" altLang="ko-KR" dirty="0"/>
          </a:p>
          <a:p>
            <a:pPr lvl="1"/>
            <a:r>
              <a:rPr lang="ko-KR" altLang="en-US" dirty="0"/>
              <a:t>초기값을 직접 알 수 있는 경우</a:t>
            </a:r>
          </a:p>
          <a:p>
            <a:pPr lvl="1"/>
            <a:r>
              <a:rPr lang="ko-KR" altLang="en-US" dirty="0"/>
              <a:t>손으로 쉽게 풀 수 있는 수준까지 줄어든 경우</a:t>
            </a:r>
          </a:p>
          <a:p>
            <a:pPr lvl="1"/>
            <a:r>
              <a:rPr lang="ko-KR" altLang="en-US" dirty="0"/>
              <a:t>자명하게 답을 알 수 있는 단계</a:t>
            </a:r>
          </a:p>
          <a:p>
            <a:endParaRPr lang="en-US" altLang="ko-KR" dirty="0"/>
          </a:p>
          <a:p>
            <a:r>
              <a:rPr lang="ko-KR" altLang="en-US" dirty="0"/>
              <a:t>이전 단계까지의 과정이 잘 수행되었다고 </a:t>
            </a:r>
            <a:r>
              <a:rPr lang="ko-KR" altLang="en-US" dirty="0">
                <a:solidFill>
                  <a:srgbClr val="FF0000"/>
                </a:solidFill>
              </a:rPr>
              <a:t>믿고</a:t>
            </a:r>
            <a:r>
              <a:rPr lang="ko-KR" altLang="en-US" dirty="0"/>
              <a:t> 다음 단계를 수행함을 전제함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60602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F2876-93FD-D4B4-4B16-61CA34242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04457-FCE4-E436-79BA-3B9B1932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13B4A5-9903-9B13-4E1E-0B92ACEC1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FE835-14AF-FEBD-3692-568DF862A655}"/>
              </a:ext>
            </a:extLst>
          </p:cNvPr>
          <p:cNvSpPr txBox="1"/>
          <p:nvPr/>
        </p:nvSpPr>
        <p:spPr>
          <a:xfrm>
            <a:off x="2594610" y="1690688"/>
            <a:ext cx="70027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long </a:t>
            </a:r>
            <a:r>
              <a:rPr lang="en-US" altLang="ko-KR" dirty="0" err="1"/>
              <a:t>long</a:t>
            </a:r>
            <a:r>
              <a:rPr lang="en-US" altLang="ko-KR" dirty="0"/>
              <a:t> </a:t>
            </a:r>
            <a:r>
              <a:rPr lang="en-US" altLang="ko-KR" dirty="0" err="1"/>
              <a:t>getSum</a:t>
            </a:r>
            <a:r>
              <a:rPr lang="en-US" altLang="ko-KR" dirty="0"/>
              <a:t>(int n) {</a:t>
            </a:r>
          </a:p>
          <a:p>
            <a:r>
              <a:rPr lang="en-US" altLang="ko-KR" dirty="0"/>
              <a:t>    if (n == 1) </a:t>
            </a:r>
            <a:r>
              <a:rPr lang="en-US" altLang="ko-KR" dirty="0">
                <a:solidFill>
                  <a:schemeClr val="accent6"/>
                </a:solidFill>
              </a:rPr>
              <a:t>// base case</a:t>
            </a:r>
          </a:p>
          <a:p>
            <a:r>
              <a:rPr lang="en-US" altLang="ko-KR" dirty="0"/>
              <a:t>        return 1;</a:t>
            </a:r>
          </a:p>
          <a:p>
            <a:r>
              <a:rPr lang="en-US" altLang="ko-KR" dirty="0"/>
              <a:t>    else {</a:t>
            </a:r>
            <a:endParaRPr lang="en-US" altLang="ko-KR" dirty="0">
              <a:solidFill>
                <a:schemeClr val="accent6"/>
              </a:solidFill>
            </a:endParaRPr>
          </a:p>
          <a:p>
            <a:r>
              <a:rPr lang="en-US" altLang="ko-KR" dirty="0"/>
              <a:t>        long </a:t>
            </a:r>
            <a:r>
              <a:rPr lang="en-US" altLang="ko-KR" dirty="0" err="1"/>
              <a:t>long</a:t>
            </a:r>
            <a:r>
              <a:rPr lang="en-US" altLang="ko-KR" dirty="0"/>
              <a:t> result = n + </a:t>
            </a:r>
            <a:r>
              <a:rPr lang="en-US" altLang="ko-KR" dirty="0" err="1"/>
              <a:t>getSum</a:t>
            </a:r>
            <a:r>
              <a:rPr lang="en-US" altLang="ko-KR" dirty="0"/>
              <a:t>(n - 1);</a:t>
            </a:r>
          </a:p>
          <a:p>
            <a:r>
              <a:rPr lang="en-US" altLang="ko-KR" dirty="0"/>
              <a:t>        return result;</a:t>
            </a:r>
          </a:p>
          <a:p>
            <a:r>
              <a:rPr lang="en-US" altLang="ko-KR" dirty="0"/>
              <a:t>    } </a:t>
            </a:r>
          </a:p>
          <a:p>
            <a:r>
              <a:rPr lang="en-US" altLang="ko-KR" dirty="0"/>
              <a:t>}</a:t>
            </a:r>
          </a:p>
          <a:p>
            <a:endParaRPr lang="en-US" altLang="ko-KR" dirty="0"/>
          </a:p>
          <a:p>
            <a:r>
              <a:rPr lang="en-US" altLang="ko-KR" dirty="0"/>
              <a:t>int main() {</a:t>
            </a:r>
          </a:p>
          <a:p>
            <a:r>
              <a:rPr lang="en-US" altLang="ko-KR" dirty="0"/>
              <a:t>    int x;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cin</a:t>
            </a:r>
            <a:r>
              <a:rPr lang="en-US" altLang="ko-KR" dirty="0"/>
              <a:t> &gt;&gt; x;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cout</a:t>
            </a:r>
            <a:r>
              <a:rPr lang="en-US" altLang="ko-KR" dirty="0"/>
              <a:t> &lt;&lt; </a:t>
            </a:r>
            <a:r>
              <a:rPr lang="en-US" altLang="ko-KR" dirty="0" err="1"/>
              <a:t>getSum</a:t>
            </a:r>
            <a:r>
              <a:rPr lang="en-US" altLang="ko-KR" dirty="0"/>
              <a:t>(x);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434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CC7C-8FBD-9394-B7AA-86C4A8EAA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D6F25-147E-C034-9CEA-31E48EA3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FD97E-2A5F-96AC-9FB5-DEF3ED7B1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: 1</a:t>
            </a:r>
            <a:r>
              <a:rPr lang="ko-KR" altLang="en-US" dirty="0"/>
              <a:t>부터 </a:t>
            </a:r>
            <a:r>
              <a:rPr lang="en-US" altLang="ko-KR" dirty="0"/>
              <a:t>5</a:t>
            </a:r>
            <a:r>
              <a:rPr lang="ko-KR" altLang="en-US" dirty="0"/>
              <a:t>까지 더해보기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1CC0DD6-355F-6E6B-BB58-1E230BAF8798}"/>
              </a:ext>
            </a:extLst>
          </p:cNvPr>
          <p:cNvGrpSpPr/>
          <p:nvPr/>
        </p:nvGrpSpPr>
        <p:grpSpPr>
          <a:xfrm>
            <a:off x="2235758" y="2353251"/>
            <a:ext cx="6797710" cy="4069933"/>
            <a:chOff x="2235758" y="2353251"/>
            <a:chExt cx="6797710" cy="4069933"/>
          </a:xfrm>
        </p:grpSpPr>
        <p:pic>
          <p:nvPicPr>
            <p:cNvPr id="1028" name="Picture 4" descr="Recursion in a call stack. Recursive function, call stack">
              <a:extLst>
                <a:ext uri="{FF2B5EF4-FFF2-40B4-BE49-F238E27FC236}">
                  <a16:creationId xmlns:a16="http://schemas.microsoft.com/office/drawing/2014/main" id="{E4815149-6FDB-3FF8-46F7-AA9CAC09F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5758" y="2353251"/>
              <a:ext cx="6797710" cy="3823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7509FC-FBB9-26BE-1372-EB9E2A54B1E2}"/>
                </a:ext>
              </a:extLst>
            </p:cNvPr>
            <p:cNvSpPr txBox="1"/>
            <p:nvPr/>
          </p:nvSpPr>
          <p:spPr>
            <a:xfrm>
              <a:off x="3899679" y="6176963"/>
              <a:ext cx="43926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https://m13ha.hashnode.dev/data-structures-trees-ii#heading-recursion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0767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1DE8-D2DE-3849-EA85-A93429864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C4405-C412-08BC-CE03-EB0B6269F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2BB8A8-00A1-408A-BC0C-E467D8EBF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재귀는 웬만하면 반복문으로 구현 가능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재귀는 코드를 더 깔끔하게</a:t>
            </a:r>
            <a:r>
              <a:rPr lang="en-US" altLang="ko-KR" dirty="0"/>
              <a:t>, </a:t>
            </a:r>
            <a:r>
              <a:rPr lang="ko-KR" altLang="en-US" dirty="0"/>
              <a:t>또는 논리적으로 이해하기 쉽게 적을 수 있는 경우가 있다 장점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단점으로 반복문보다 메모리를 훨씬 더 많이 잡아먹는다는 단점이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재귀는 일종의 도구 중 하나로 </a:t>
            </a:r>
            <a:r>
              <a:rPr lang="ko-KR" altLang="en-US" dirty="0" err="1"/>
              <a:t>생각하는게</a:t>
            </a:r>
            <a:r>
              <a:rPr lang="ko-KR" altLang="en-US" dirty="0"/>
              <a:t> 오히려 더 편함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11097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28D03-8801-0780-5C49-CC0C4EF0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</a:t>
            </a:r>
            <a:r>
              <a:rPr lang="en-US" altLang="ko-KR" dirty="0"/>
              <a:t> - </a:t>
            </a:r>
            <a:r>
              <a:rPr lang="ko-KR" altLang="en-US" dirty="0"/>
              <a:t>예시문제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309BE-5CFA-FCAF-946C-C17A1465F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팩토리얼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https://www.acmicpc.net/problem/27433</a:t>
            </a:r>
            <a:endParaRPr lang="en-US" altLang="ko-KR" dirty="0"/>
          </a:p>
          <a:p>
            <a:pPr lvl="1"/>
            <a:r>
              <a:rPr lang="ko-KR" altLang="en-US" dirty="0"/>
              <a:t>예시 답안 </a:t>
            </a:r>
            <a:r>
              <a:rPr lang="en-US" altLang="ko-KR" dirty="0"/>
              <a:t>(C++) : </a:t>
            </a:r>
            <a:r>
              <a:rPr lang="en-US" altLang="ko-KR" dirty="0">
                <a:hlinkClick r:id="rId3"/>
              </a:rPr>
              <a:t>http://boj.kr/274fa52aecb6428e8fdc743a57c05550</a:t>
            </a:r>
            <a:endParaRPr lang="en-US" altLang="ko-KR" dirty="0"/>
          </a:p>
          <a:p>
            <a:pPr lvl="1"/>
            <a:r>
              <a:rPr lang="ko-KR" altLang="en-US" dirty="0"/>
              <a:t>예시 답안 </a:t>
            </a:r>
            <a:r>
              <a:rPr lang="en-US" altLang="ko-KR" dirty="0"/>
              <a:t>(Java) : </a:t>
            </a:r>
            <a:r>
              <a:rPr lang="en-US" altLang="ko-KR" dirty="0">
                <a:hlinkClick r:id="rId4"/>
              </a:rPr>
              <a:t>http://boj.kr/17d872eff05a4296bf834aab54a9097d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3323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A9F82-EC16-0D48-85A9-E2C8E1A8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분할 정복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54C819-00B0-66C3-EE34-1DC920762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분할</a:t>
            </a:r>
            <a:r>
              <a:rPr lang="en-US" altLang="ko-KR" dirty="0"/>
              <a:t> - </a:t>
            </a:r>
            <a:r>
              <a:rPr lang="ko-KR" altLang="en-US" dirty="0"/>
              <a:t>큰 문제를 여러 개의 작은</a:t>
            </a:r>
            <a:r>
              <a:rPr lang="en-US" altLang="ko-KR" dirty="0"/>
              <a:t> </a:t>
            </a:r>
            <a:r>
              <a:rPr lang="ko-KR" altLang="en-US" dirty="0"/>
              <a:t>문제로</a:t>
            </a:r>
            <a:r>
              <a:rPr lang="en-US" altLang="ko-KR" dirty="0"/>
              <a:t> </a:t>
            </a:r>
            <a:r>
              <a:rPr lang="ko-KR" altLang="en-US" dirty="0"/>
              <a:t>쪼갠 후</a:t>
            </a:r>
            <a:endParaRPr lang="en-US" altLang="ko-KR" dirty="0"/>
          </a:p>
          <a:p>
            <a:r>
              <a:rPr lang="ko-KR" altLang="en-US" dirty="0"/>
              <a:t>정복</a:t>
            </a:r>
            <a:r>
              <a:rPr lang="en-US" altLang="ko-KR" dirty="0"/>
              <a:t> - </a:t>
            </a:r>
            <a:r>
              <a:rPr lang="ko-KR" altLang="en-US" dirty="0"/>
              <a:t>작은 문제들의 답을 이용해 큰 문제의 답을 구하는 방법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문제의 크기가 충분히 작으면 직접 해결한다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그렇지 않으면 작은 문제 여러 개로 분할해 해결한 후 그 결과를 이용해 문제를 해결한다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2999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8AAE4-C08B-D964-68D2-E2E451D4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E3493-83BF-0882-63DC-1DC92AF6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분할 정복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3DEF856-FD64-731B-2B19-61D4E5A93B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예시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빠르게 계산하기</a:t>
                </a: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만약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1000</a:t>
                </a:r>
                <a:r>
                  <a:rPr lang="ko-KR" altLang="en-US" dirty="0"/>
                  <a:t>만 이하라면 어떻게 구현하던 선형 시간 내에 빠르게 해결 가능하다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하지만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억 정도 되면 다항 시간 내에 해결해야 한다</a:t>
                </a:r>
                <a:r>
                  <a:rPr lang="en-US" altLang="ko-KR" dirty="0"/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1354757413857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4698764156374654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368561265741</m:t>
                    </m:r>
                  </m:oMath>
                </a14:m>
                <a:endParaRPr lang="en-US" altLang="ko-KR" b="0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이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우리는 분할 정복을 이용할 수 있다</a:t>
                </a:r>
                <a:r>
                  <a:rPr lang="en-US" altLang="ko-KR" dirty="0"/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dirty="0"/>
                  <a:t>어디까지 분할해야 충분히 작은 문제일까</a:t>
                </a:r>
                <a:r>
                  <a:rPr lang="en-US" altLang="ko-KR" dirty="0"/>
                  <a:t>?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dirty="0"/>
                  <a:t>분할해서 가져온 결과를 어떻게 사용해야 할까</a:t>
                </a:r>
                <a:r>
                  <a:rPr lang="en-US" altLang="ko-KR" dirty="0"/>
                  <a:t>?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3DEF856-FD64-731B-2B19-61D4E5A93B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5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E711-BBF9-72A7-1BA4-43DD2F8B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B7411-6F21-C55D-1E57-D000A5DB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분할 정복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6E13DB2-3E0F-2036-D1CB-ACB22B2E09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예시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빠르게 계산하기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/>
                  <a:t>이면 충분히 작기에 직접 해결한다</a:t>
                </a:r>
                <a:r>
                  <a:rPr lang="en-US" altLang="ko-KR" dirty="0"/>
                  <a:t>. (base case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≥1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/>
                  <a:t>면 더 작은 문제로 나눠 해결한다</a:t>
                </a:r>
                <a:r>
                  <a:rPr lang="en-US" altLang="ko-KR" dirty="0"/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ko-KR" dirty="0"/>
                  <a:t>B</a:t>
                </a:r>
                <a:r>
                  <a:rPr lang="ko-KR" altLang="en-US" dirty="0"/>
                  <a:t>가 짝수면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dirty="0"/>
                      <m:t>B</m:t>
                    </m:r>
                    <m:r>
                      <m:rPr>
                        <m:nor/>
                      </m:rPr>
                      <a:rPr lang="ko-KR" altLang="en-US" dirty="0"/>
                      <m:t>가 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홀</m:t>
                    </m:r>
                    <m:r>
                      <m:rPr>
                        <m:nor/>
                      </m:rPr>
                      <a:rPr lang="ko-KR" altLang="en-US" dirty="0"/>
                      <m:t>수면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1)/2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시간 복잡도</a:t>
                </a:r>
                <a:endParaRPr lang="en-US" altLang="ko-KR" dirty="0"/>
              </a:p>
              <a:p>
                <a:pPr lvl="2">
                  <a:lnSpc>
                    <a:spcPct val="150000"/>
                  </a:lnSpc>
                </a:pPr>
                <a:r>
                  <a:rPr lang="en-US" altLang="ko-KR" dirty="0"/>
                  <a:t>b</a:t>
                </a:r>
                <a:r>
                  <a:rPr lang="ko-KR" altLang="en-US" dirty="0"/>
                  <a:t>의 최상위 비트까지 내려가니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맞지만 대부분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dirty="0"/>
                  <a:t>로 표현</a:t>
                </a:r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6E13DB2-3E0F-2036-D1CB-ACB22B2E09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67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DA3FA-6AB4-92E3-ABA2-B44F9854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52EAB-D169-6B11-F5CA-76F07DDB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분할 정복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810D25A-A1B8-DC81-D719-5257BF060E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예시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빠르게 계산하기</a:t>
                </a: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계산하기</a:t>
                </a:r>
                <a:endParaRPr lang="en-US" altLang="ko-KR" dirty="0"/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(3, 5)</m:t>
                    </m:r>
                  </m:oMath>
                </a14:m>
                <a:r>
                  <a:rPr lang="en-US" altLang="ko-KR" dirty="0"/>
                  <a:t> =&gt;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(3, 2)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ko-KR" dirty="0"/>
                  <a:t> (b</a:t>
                </a:r>
                <a:r>
                  <a:rPr lang="ko-KR" altLang="en-US" dirty="0"/>
                  <a:t>가 홀수</a:t>
                </a:r>
                <a:r>
                  <a:rPr lang="en-US" altLang="ko-KR" dirty="0"/>
                  <a:t>)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(3, 2)</m:t>
                    </m:r>
                  </m:oMath>
                </a14:m>
                <a:r>
                  <a:rPr lang="en-US" altLang="ko-KR" dirty="0"/>
                  <a:t> 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(3, 1)</m:t>
                        </m:r>
                      </m:e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/>
                  <a:t> (b</a:t>
                </a:r>
                <a:r>
                  <a:rPr lang="ko-KR" altLang="en-US" dirty="0"/>
                  <a:t>가 짝수</a:t>
                </a:r>
                <a:r>
                  <a:rPr lang="en-US" altLang="ko-KR" dirty="0"/>
                  <a:t>)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(3, 1)</m:t>
                    </m:r>
                  </m:oMath>
                </a14:m>
                <a:r>
                  <a:rPr lang="en-US" altLang="ko-KR" dirty="0"/>
                  <a:t> =&gt;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(3, 0)</m:t>
                        </m:r>
                      </m:e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altLang="ko-KR" dirty="0"/>
                  <a:t> (b</a:t>
                </a:r>
                <a:r>
                  <a:rPr lang="ko-KR" altLang="en-US" dirty="0"/>
                  <a:t>가 홀수</a:t>
                </a:r>
                <a:r>
                  <a:rPr lang="en-US" altLang="ko-KR" dirty="0"/>
                  <a:t>)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(3, 0)</m:t>
                    </m:r>
                  </m:oMath>
                </a14:m>
                <a:r>
                  <a:rPr lang="en-US" altLang="ko-KR" dirty="0"/>
                  <a:t> =&gt; 1 (b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base case)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(3, 5)</m:t>
                    </m:r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(1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×3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810D25A-A1B8-DC81-D719-5257BF060E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5532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D601-8821-01D4-5C83-E99C137A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C89C4-59F5-E472-7844-194267A2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분할 정복 </a:t>
            </a:r>
            <a:r>
              <a:rPr lang="en-US" altLang="ko-KR" dirty="0"/>
              <a:t>- </a:t>
            </a:r>
            <a:r>
              <a:rPr lang="ko-KR" altLang="en-US" dirty="0"/>
              <a:t>예시문제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F8A2ECA-A0D2-9FEA-F562-E3E758744F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en-US" altLang="ko-KR" dirty="0">
                    <a:hlinkClick r:id="rId2"/>
                  </a:rPr>
                  <a:t>https://www.acmicpc.net/problem/1629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예시 답안 </a:t>
                </a:r>
                <a:r>
                  <a:rPr lang="en-US" altLang="ko-KR" dirty="0"/>
                  <a:t>(C++) : </a:t>
                </a:r>
                <a:r>
                  <a:rPr lang="en-US" altLang="ko-KR" dirty="0">
                    <a:hlinkClick r:id="rId3"/>
                  </a:rPr>
                  <a:t>http://boj.kr/6ec96420913547fca1615d2215add62b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예시 답안 </a:t>
                </a:r>
                <a:r>
                  <a:rPr lang="en-US" altLang="ko-KR" dirty="0"/>
                  <a:t>(Java) : </a:t>
                </a:r>
                <a:r>
                  <a:rPr lang="en-US" altLang="ko-KR" dirty="0">
                    <a:hlinkClick r:id="rId4"/>
                  </a:rPr>
                  <a:t>http://boj.kr/f2fced4ddffb45ed9593a3155e8e459e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F8A2ECA-A0D2-9FEA-F562-E3E758744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t="-2241" r="-5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7871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D3B2-501E-0EA5-ADB0-5238D20F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CDDE2-7520-0824-BF4E-91881744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CE6C2-8E1A-6997-8C8E-B3BF38CD0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재귀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https://www.acmicpc.net/step/19</a:t>
            </a:r>
            <a:endParaRPr lang="en-US" altLang="ko-KR" dirty="0"/>
          </a:p>
          <a:p>
            <a:r>
              <a:rPr lang="ko-KR" altLang="en-US" dirty="0"/>
              <a:t>분할 정복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https://www.acmicpc.net/step/20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572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808</Words>
  <Application>Microsoft Office PowerPoint</Application>
  <PresentationFormat>와이드스크린</PresentationFormat>
  <Paragraphs>109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Cambria Math</vt:lpstr>
      <vt:lpstr>Office 테마</vt:lpstr>
      <vt:lpstr>자구&amp;알고 스터디</vt:lpstr>
      <vt:lpstr>재귀</vt:lpstr>
      <vt:lpstr>재귀</vt:lpstr>
      <vt:lpstr>재귀</vt:lpstr>
      <vt:lpstr>재귀</vt:lpstr>
      <vt:lpstr>재귀</vt:lpstr>
      <vt:lpstr>재귀</vt:lpstr>
      <vt:lpstr>재귀 - 예시문제</vt:lpstr>
      <vt:lpstr>분할 정복</vt:lpstr>
      <vt:lpstr>분할 정복</vt:lpstr>
      <vt:lpstr>분할 정복</vt:lpstr>
      <vt:lpstr>분할 정복</vt:lpstr>
      <vt:lpstr>분할 정복 - 예시문제</vt:lpstr>
      <vt:lpstr>복습 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이태규</dc:creator>
  <cp:lastModifiedBy>이태규</cp:lastModifiedBy>
  <cp:revision>60</cp:revision>
  <dcterms:created xsi:type="dcterms:W3CDTF">2025-09-07T07:21:38Z</dcterms:created>
  <dcterms:modified xsi:type="dcterms:W3CDTF">2025-09-20T17:33:28Z</dcterms:modified>
</cp:coreProperties>
</file>