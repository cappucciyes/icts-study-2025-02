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97" r:id="rId4"/>
    <p:sldId id="298" r:id="rId5"/>
    <p:sldId id="299" r:id="rId6"/>
    <p:sldId id="307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8" r:id="rId15"/>
    <p:sldId id="316" r:id="rId16"/>
    <p:sldId id="309" r:id="rId17"/>
    <p:sldId id="318" r:id="rId18"/>
    <p:sldId id="314" r:id="rId19"/>
    <p:sldId id="310" r:id="rId20"/>
    <p:sldId id="311" r:id="rId21"/>
    <p:sldId id="312" r:id="rId22"/>
    <p:sldId id="313" r:id="rId23"/>
    <p:sldId id="315" r:id="rId24"/>
    <p:sldId id="31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59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C852-3943-4D51-80F6-C4AAF313C63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A249-7C39-4352-9E45-C2A700C6EF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43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91600-1290-79B0-79CC-7E2CFBA37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C8A10-28B2-6B33-723A-C8228B0D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FAC2E-4229-0574-0B42-75CD03D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49B39-723D-8DC0-4E9D-EFFAF1E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3DE1-650A-36F6-6C03-CDFDC6E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9DE04-2E55-0B3E-F3C6-D3315898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2656D-974E-264F-566D-87DD7CA1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8C91-5F7C-2B73-5157-2DFEE4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A6AD-96B7-F377-55EF-A2DBD772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D60F2-8AD5-06E6-9767-27C8FCB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23D1-089F-9926-9265-0A911F9A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E1A64-96C0-855D-2661-A0FEFF3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EFFDC-E59A-31C5-809B-72C1D2C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C5ECF-1952-9C24-4222-DE41CC4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4F296-578E-79BD-2D9B-B6647C8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5772-9DD8-F373-2D4C-4174C8AA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92EF5-CA5C-79CC-71E3-B68626ED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A2304-0129-4DC7-6BE8-125BB259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789E6-D8EC-7B16-E02C-EFAA587A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5B10E-627D-7A59-3BD4-7B7EDC0F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17AE4-CDD5-B47F-CD44-8E54175A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2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898D-D98F-C86E-2F24-743E8C05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F86ED-8CD1-3ADE-35D1-40DD3646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91F8E-CCA0-FAAF-6050-57CB6B2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9BED6-C560-D0B7-3083-9C946B560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ABFF0-3842-262E-DBE1-C0FDD14E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9AF9FE-E75B-B59B-771A-C19D60C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30B46-E655-777C-DD63-EC05DC46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7D3442-D774-6A4B-962B-F495F8F1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3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544B-5293-1FFF-20E0-3B48D350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81B5F6-E3E9-B6AA-D3F4-5F44FE37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63984E-5335-A94F-40FF-B8860ACE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2E13A-C8CB-6C60-82D5-4AB56A8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A4128-7C05-07B2-0AB7-F5EA709D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5B2FD-0635-9306-63B7-495C25F4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B179B-2404-8F11-7315-3856C2D0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5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9E0D-A985-199A-30C9-5455E963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E9A32-6091-B4D7-2A95-56593D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A524D-AFA8-E687-BC6D-E4E1D5B3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6CB03-E1F3-3453-4B15-56D3145D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CADDD-B757-E3AD-A0DE-33585448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4C2ED-274C-A116-62F3-B58898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A49B-7C3A-795A-D97A-F1B0DCB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46C7ED-D1EA-E03C-62E6-5D5322C9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0C8E8-83F5-7D6E-94BF-3A689917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2579B-256E-AA8A-B1F6-C26F3A26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BC8E4-8FDF-8572-035B-FEA7EA87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F9882-077A-CAC2-F083-8E23ABEE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1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54073-27B2-5F4F-4C1D-A535987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B4666-EB99-D106-12F4-BF4B4617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002B9-6BF5-17F8-BCB8-D189109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B879F-6566-0BDF-0D4B-5C3BC2E3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FD1B1-B85D-94DF-6190-5EDF3B0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C1A51-AA07-93A1-B2BA-1AE95DD7E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E7333-0723-2509-4B18-0ED9653E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EE390-8EFE-325F-4E92-34B63FFE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0D9B9-17B9-3E9A-ECC0-B8B8C28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722C0-040D-30ED-49D5-D39296C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1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36321-93C5-32E8-43F1-95B9D8E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3689C-20E1-2835-A92B-5B87C474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D60AD-4BEF-863F-CE9F-4A934AA1C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2074-AB8A-4DE3-842B-2B238FAEC81C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F470F-2FD6-C59C-DC61-3266505C3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5973C-09A2-0401-1519-0C4272B6D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nghoon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onghoon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nghoony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donghoon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donghoon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donghoony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donghoony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donghoon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e655a4c35f9b4f9b8862d49ff4009992" TargetMode="External"/><Relationship Id="rId2" Type="http://schemas.openxmlformats.org/officeDocument/2006/relationships/hyperlink" Target="https://www.acmicpc.net/problem/175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99e189479d7c4da1a50839057be86dc9" TargetMode="External"/><Relationship Id="rId2" Type="http://schemas.openxmlformats.org/officeDocument/2006/relationships/hyperlink" Target="https://www.acmicpc.net/problem/1165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43CA-A23F-1B98-C63A-0791B16D1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자구</a:t>
            </a:r>
            <a:r>
              <a:rPr lang="en-US" altLang="ko-KR" dirty="0"/>
              <a:t>&amp;</a:t>
            </a:r>
            <a:r>
              <a:rPr lang="ko-KR" altLang="en-US" dirty="0"/>
              <a:t>알고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C2082-1E01-80C1-C0E4-FDA57170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3619291"/>
            <a:ext cx="8229600" cy="1655762"/>
          </a:xfrm>
        </p:spPr>
        <p:txBody>
          <a:bodyPr/>
          <a:lstStyle/>
          <a:p>
            <a:r>
              <a:rPr lang="en-US" altLang="ko-KR" dirty="0"/>
              <a:t>Shortest Path</a:t>
            </a:r>
          </a:p>
          <a:p>
            <a:r>
              <a:rPr lang="en-US" altLang="ko-KR" dirty="0"/>
              <a:t>Dijkstra’s</a:t>
            </a:r>
            <a:r>
              <a:rPr lang="ko-KR" altLang="en-US" dirty="0"/>
              <a:t> </a:t>
            </a:r>
            <a:r>
              <a:rPr lang="en-US" altLang="ko-KR" dirty="0"/>
              <a:t>Algorithm</a:t>
            </a:r>
          </a:p>
          <a:p>
            <a:r>
              <a:rPr lang="en-US" altLang="ko-KR" dirty="0"/>
              <a:t>Bellman-Ford Algorithm</a:t>
            </a:r>
          </a:p>
        </p:txBody>
      </p:sp>
    </p:spTree>
    <p:extLst>
      <p:ext uri="{BB962C8B-B14F-4D97-AF65-F5344CB8AC3E}">
        <p14:creationId xmlns:p14="http://schemas.microsoft.com/office/powerpoint/2010/main" val="139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8C4E-ACF0-2C0D-5AA3-7AE77492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F0DB-F042-F45C-530E-65453CFD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Shortest Path (</a:t>
            </a:r>
            <a:r>
              <a:rPr lang="ko-KR" altLang="en-US" dirty="0"/>
              <a:t>최단 경로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0450C-EE9A-3ABC-9CEC-E77FB89D3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4499" cy="5120182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간선에</a:t>
            </a:r>
            <a:r>
              <a:rPr lang="en-US" altLang="ko-KR" sz="2000" dirty="0"/>
              <a:t> </a:t>
            </a:r>
            <a:r>
              <a:rPr lang="ko-KR" altLang="en-US" sz="2000" dirty="0"/>
              <a:t>가중치가 없다면</a:t>
            </a:r>
            <a:r>
              <a:rPr lang="en-US" altLang="ko-KR" sz="2000" dirty="0"/>
              <a:t>?</a:t>
            </a:r>
          </a:p>
          <a:p>
            <a:pPr lvl="1"/>
            <a:r>
              <a:rPr lang="en-US" altLang="ko-KR" sz="1600" dirty="0"/>
              <a:t>BFS</a:t>
            </a:r>
            <a:r>
              <a:rPr lang="ko-KR" altLang="en-US" sz="1600" dirty="0"/>
              <a:t>로 해결</a:t>
            </a:r>
            <a:endParaRPr lang="en-US" altLang="ko-KR" sz="1600" dirty="0"/>
          </a:p>
          <a:p>
            <a:endParaRPr lang="en-US" altLang="ko-KR" sz="2000" dirty="0"/>
          </a:p>
          <a:p>
            <a:r>
              <a:rPr lang="ko-KR" altLang="en-US" sz="2000" dirty="0"/>
              <a:t>간선에 가중치가 </a:t>
            </a:r>
            <a:r>
              <a:rPr lang="en-US" altLang="ko-KR" sz="2000" dirty="0"/>
              <a:t>0, 1</a:t>
            </a:r>
            <a:r>
              <a:rPr lang="ko-KR" altLang="en-US" sz="2000" dirty="0"/>
              <a:t>만 들어온다면</a:t>
            </a:r>
            <a:r>
              <a:rPr lang="en-US" altLang="ko-KR" sz="2000" dirty="0"/>
              <a:t>?</a:t>
            </a:r>
          </a:p>
          <a:p>
            <a:pPr lvl="1"/>
            <a:r>
              <a:rPr lang="en-US" altLang="ko-KR" sz="1600" dirty="0"/>
              <a:t>0-1 BFS</a:t>
            </a:r>
            <a:r>
              <a:rPr lang="ko-KR" altLang="en-US" sz="1600" dirty="0"/>
              <a:t>로 해결</a:t>
            </a:r>
            <a:endParaRPr lang="en-US" altLang="ko-KR" sz="1200" dirty="0"/>
          </a:p>
          <a:p>
            <a:endParaRPr lang="en-US" altLang="ko-KR" sz="1600" dirty="0"/>
          </a:p>
          <a:p>
            <a:r>
              <a:rPr lang="ko-KR" altLang="en-US" sz="2000" dirty="0"/>
              <a:t>간선에 가중치가 있다면</a:t>
            </a:r>
            <a:r>
              <a:rPr lang="en-US" altLang="ko-KR" sz="2000" dirty="0"/>
              <a:t>?</a:t>
            </a:r>
          </a:p>
          <a:p>
            <a:pPr lvl="1"/>
            <a:r>
              <a:rPr lang="en-US" altLang="ko-KR" sz="1600" dirty="0"/>
              <a:t>Dijkstra, Bellman-Ford, Floyd-</a:t>
            </a:r>
            <a:r>
              <a:rPr lang="en-US" altLang="ko-KR" sz="1600" dirty="0" err="1"/>
              <a:t>Warshall</a:t>
            </a:r>
            <a:r>
              <a:rPr lang="en-US" altLang="ko-KR" sz="1600" dirty="0"/>
              <a:t>, SPFA, … </a:t>
            </a:r>
            <a:r>
              <a:rPr lang="ko-KR" altLang="en-US" sz="1600" dirty="0"/>
              <a:t>등등의 방법으로 해결</a:t>
            </a:r>
          </a:p>
          <a:p>
            <a:endParaRPr lang="en-US" altLang="ko-KR" sz="2000" dirty="0"/>
          </a:p>
          <a:p>
            <a:r>
              <a:rPr lang="ko-KR" altLang="en-US" sz="2000" dirty="0"/>
              <a:t>단방향 간선만 들어온다면</a:t>
            </a:r>
            <a:r>
              <a:rPr lang="en-US" altLang="ko-KR" sz="2000" dirty="0"/>
              <a:t>?</a:t>
            </a:r>
          </a:p>
          <a:p>
            <a:r>
              <a:rPr lang="ko-KR" altLang="en-US" sz="2000" dirty="0"/>
              <a:t>정점이 </a:t>
            </a:r>
            <a:r>
              <a:rPr lang="en-US" altLang="ko-KR" sz="2000" dirty="0"/>
              <a:t>N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간선이 </a:t>
            </a:r>
            <a:r>
              <a:rPr lang="en-US" altLang="ko-KR" sz="2000" dirty="0"/>
              <a:t>N-1</a:t>
            </a:r>
            <a:r>
              <a:rPr lang="ko-KR" altLang="en-US" sz="2000" dirty="0"/>
              <a:t>개 들어온다면</a:t>
            </a:r>
            <a:r>
              <a:rPr lang="en-US" altLang="ko-KR" sz="2000" dirty="0"/>
              <a:t>?</a:t>
            </a:r>
          </a:p>
          <a:p>
            <a:r>
              <a:rPr lang="en-US" altLang="ko-KR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1057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2BB6-2849-5451-8ECD-95350347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474A-C202-3B99-D4F7-1C0BBFB8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없다면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8" name="Picture 4" descr="프랭크 카운터 뭐뭐 있음? - 브롤 스타즈 마이너 갤러리">
            <a:extLst>
              <a:ext uri="{FF2B5EF4-FFF2-40B4-BE49-F238E27FC236}">
                <a16:creationId xmlns:a16="http://schemas.microsoft.com/office/drawing/2014/main" id="{ED21801D-1017-4CDA-0902-091B85738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48" y="2939819"/>
            <a:ext cx="549592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0719C7ED-DDCC-6B96-788C-838B3800C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000" dirty="0"/>
                  <a:t>한 정점에서 다른 정점으로 도달하는데 방문하는 간선의 개수</a:t>
                </a:r>
                <a:endParaRPr lang="en-US" altLang="ko-KR" sz="2000" dirty="0"/>
              </a:p>
              <a:p>
                <a:r>
                  <a:rPr lang="en-US" altLang="ko-KR" sz="2000" dirty="0"/>
                  <a:t>BFS</a:t>
                </a:r>
                <a:r>
                  <a:rPr lang="ko-KR" altLang="en-US" sz="2000" dirty="0"/>
                  <a:t>를 사용하여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/>
                  <a:t>에 해결 가능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0719C7ED-DDCC-6B96-788C-838B3800C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40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113D-F89B-5E41-6048-FAB2E7B5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E922E-ECFA-FE22-4B4E-58F741CE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179C0D9-1B96-BA7C-FCB9-831B4EF38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>
                <a:solidFill>
                  <a:srgbClr val="C00000"/>
                </a:solidFill>
              </a:rPr>
              <a:t>Dijkstra’s Algorithm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32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ko-KR" sz="3200" dirty="0">
                <a:solidFill>
                  <a:srgbClr val="C00000"/>
                </a:solidFill>
              </a:rPr>
              <a:t>Bellman-Ford Algorithm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32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Floyd-</a:t>
            </a:r>
            <a:r>
              <a:rPr lang="en-US" altLang="ko-KR" sz="3200" dirty="0" err="1"/>
              <a:t>Warshall</a:t>
            </a:r>
            <a:r>
              <a:rPr lang="en-US" altLang="ko-KR" sz="3200" dirty="0"/>
              <a:t> Algorithm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32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SPFA</a:t>
            </a:r>
          </a:p>
        </p:txBody>
      </p:sp>
    </p:spTree>
    <p:extLst>
      <p:ext uri="{BB962C8B-B14F-4D97-AF65-F5344CB8AC3E}">
        <p14:creationId xmlns:p14="http://schemas.microsoft.com/office/powerpoint/2010/main" val="97314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3998-7C0A-372E-94DA-0E801911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10193-34EF-4E99-54DC-CA579FD5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30553BF-BB1F-07E9-0DE8-D2763EE3E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 (</a:t>
            </a:r>
            <a:r>
              <a:rPr lang="ko-KR" altLang="en-US" sz="3200" dirty="0" err="1"/>
              <a:t>그리디한</a:t>
            </a:r>
            <a:r>
              <a:rPr lang="ko-KR" altLang="en-US" sz="3200" dirty="0"/>
              <a:t> 접근</a:t>
            </a:r>
            <a:r>
              <a:rPr lang="en-US" altLang="ko-KR" sz="32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1. S</a:t>
            </a:r>
            <a:r>
              <a:rPr lang="ko-KR" altLang="en-US" sz="2000" dirty="0"/>
              <a:t>에서 모든 정점으로의 거리를 </a:t>
            </a:r>
            <a:r>
              <a:rPr lang="en-US" altLang="ko-KR" sz="2000" dirty="0"/>
              <a:t>∞</a:t>
            </a:r>
            <a:r>
              <a:rPr lang="ko-KR" altLang="en-US" sz="2000" dirty="0"/>
              <a:t>로 초기화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우선순위 큐에 </a:t>
            </a:r>
            <a:r>
              <a:rPr lang="en-US" altLang="ko-KR" sz="2000" dirty="0"/>
              <a:t>{S, 0}</a:t>
            </a:r>
            <a:r>
              <a:rPr lang="ko-KR" altLang="en-US" sz="2000" dirty="0"/>
              <a:t>을 집어넣음</a:t>
            </a:r>
            <a:r>
              <a:rPr lang="en-US" altLang="ko-KR" sz="2000" dirty="0"/>
              <a:t>. (&lt;</a:t>
            </a:r>
            <a:r>
              <a:rPr lang="ko-KR" altLang="en-US" sz="2000" dirty="0"/>
              <a:t>현재 위치한 정점</a:t>
            </a:r>
            <a:r>
              <a:rPr lang="en-US" altLang="ko-KR" sz="2000" dirty="0"/>
              <a:t>, </a:t>
            </a:r>
            <a:r>
              <a:rPr lang="ko-KR" altLang="en-US" sz="2000" dirty="0"/>
              <a:t>현재 경로의 거리</a:t>
            </a:r>
            <a:r>
              <a:rPr lang="en-US" altLang="ko-KR" sz="2000" dirty="0"/>
              <a:t>&gt; </a:t>
            </a:r>
            <a:r>
              <a:rPr lang="ko-KR" altLang="en-US" sz="2000" dirty="0"/>
              <a:t>쌍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우선순위 큐에서 가장 거리가 가까운 정점을 </a:t>
            </a:r>
            <a:r>
              <a:rPr lang="ko-KR" altLang="en-US" sz="2000" dirty="0" err="1"/>
              <a:t>뽑아냄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만약 현재 경로의 거리가 기록된 거리보다 멀다면 </a:t>
            </a:r>
            <a:r>
              <a:rPr lang="en-US" altLang="ko-KR" sz="2000" dirty="0"/>
              <a:t>Continue.</a:t>
            </a:r>
          </a:p>
          <a:p>
            <a:pPr marL="0" indent="0">
              <a:buNone/>
            </a:pPr>
            <a:r>
              <a:rPr lang="en-US" altLang="ko-KR" sz="2000" dirty="0"/>
              <a:t>5. </a:t>
            </a:r>
            <a:r>
              <a:rPr lang="ko-KR" altLang="en-US" sz="2000" dirty="0"/>
              <a:t>현재 경로의 거리를 기록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6. </a:t>
            </a:r>
            <a:r>
              <a:rPr lang="ko-KR" altLang="en-US" sz="2000" dirty="0"/>
              <a:t>현재 정점에서 방문 가능한 다음 정점들을 모두 우선순위 큐에 넣음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7. </a:t>
            </a:r>
            <a:r>
              <a:rPr lang="ko-KR" altLang="en-US" sz="2000" dirty="0"/>
              <a:t>우선 순위 큐가 </a:t>
            </a:r>
            <a:r>
              <a:rPr lang="ko-KR" altLang="en-US" sz="2000" dirty="0" err="1"/>
              <a:t>비어있지</a:t>
            </a:r>
            <a:r>
              <a:rPr lang="ko-KR" altLang="en-US" sz="2000" dirty="0"/>
              <a:t> 않으면 </a:t>
            </a:r>
            <a:r>
              <a:rPr lang="en-US" altLang="ko-KR" sz="2000" dirty="0"/>
              <a:t>3. </a:t>
            </a:r>
            <a:r>
              <a:rPr lang="ko-KR" altLang="en-US" sz="2000" dirty="0"/>
              <a:t>으로 </a:t>
            </a:r>
            <a:r>
              <a:rPr lang="ko-KR" altLang="en-US" sz="2000" dirty="0" err="1"/>
              <a:t>돌아감</a:t>
            </a:r>
            <a:r>
              <a:rPr lang="en-US" altLang="ko-KR" sz="20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572DE162-868B-A339-9563-225A565E2B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867" y="6176963"/>
                <a:ext cx="3394685" cy="390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ko-KR" altLang="en-US" sz="2000" dirty="0"/>
                  <a:t>시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간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복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잡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도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 dirty="0" err="1" smtClean="0">
                        <a:latin typeface="Cambria Math" panose="02040503050406030204" pitchFamily="18" charset="0"/>
                      </a:rPr>
                      <m:t>𝐸𝑙𝑜𝑔𝑉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572DE162-868B-A339-9563-225A565E2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67" y="6176963"/>
                <a:ext cx="3394685" cy="390736"/>
              </a:xfrm>
              <a:prstGeom prst="rect">
                <a:avLst/>
              </a:prstGeom>
              <a:blipFill>
                <a:blip r:embed="rId2"/>
                <a:stretch>
                  <a:fillRect l="-1795" t="-15625" b="-21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57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378A3-1DE9-EDAB-5959-9C375A86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6DEF9-2807-75ED-30AB-BD2772FA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6D2684-0074-A114-E78B-0C920A42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896" y="1915825"/>
            <a:ext cx="7255904" cy="4126201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3AC23B3-FDD9-DB58-3597-DEADD74FF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85744-7B85-345B-9071-52789010581E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3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3177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FC05-0E97-4D62-4A01-EC795584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2D5CE-1871-E83B-AD60-980B3305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A9E42-26EC-AB1F-EF98-BAFE589E4B9E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2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717172-FAAB-7859-F054-67635ECD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098" y="1932914"/>
            <a:ext cx="7117383" cy="3952491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340C24B-1645-6E51-6874-CC170F826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</p:spTree>
    <p:extLst>
      <p:ext uri="{BB962C8B-B14F-4D97-AF65-F5344CB8AC3E}">
        <p14:creationId xmlns:p14="http://schemas.microsoft.com/office/powerpoint/2010/main" val="215361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BDB2-83CD-C8FF-22F5-49B45C20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D17720-3F4C-94FF-06AA-59E4165FE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050" y="1902635"/>
            <a:ext cx="6947708" cy="401587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F3A744-3A64-E3B4-0752-0416E14F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F961EA9-C283-841E-415A-A340540F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C1F5E-4FAA-6D62-B311-CF89F4E10D29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3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2406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5A23-C4F5-B86D-B857-DBB1FA72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8E6B1-3D6C-7D53-9A67-DBC3BB1D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9C6C7-72E2-4389-919B-854A0D4B8FB0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2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FEF1EB-741E-0CF0-C293-7A32A4135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935" y="1997122"/>
            <a:ext cx="6887269" cy="3818962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CA5E2E7-FBF3-8386-3454-0FEE7A56A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</p:spTree>
    <p:extLst>
      <p:ext uri="{BB962C8B-B14F-4D97-AF65-F5344CB8AC3E}">
        <p14:creationId xmlns:p14="http://schemas.microsoft.com/office/powerpoint/2010/main" val="3505686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E5CA-6934-3235-D323-D585D187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91A22-3E68-C24A-494B-02DD3150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9273E-E9A7-D904-6596-F4BFA2F5F6AB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2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B0635C-4672-8A33-8EDB-7AC553570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53" y="2094565"/>
            <a:ext cx="6917547" cy="381345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80EA153-2B75-C5E0-8403-3FB136B54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</p:spTree>
    <p:extLst>
      <p:ext uri="{BB962C8B-B14F-4D97-AF65-F5344CB8AC3E}">
        <p14:creationId xmlns:p14="http://schemas.microsoft.com/office/powerpoint/2010/main" val="25636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193D-9C75-20E1-CC5B-FF2C7F33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8D2D0-7EDD-1C06-5121-ADFB22CB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9C93A-C2C9-F2A6-C769-0AA9972D906A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2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8C50CE-E8F8-9A6D-BBBA-7AF56FBB0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661" y="1991201"/>
            <a:ext cx="7042698" cy="4020186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B6A8454-259C-6AEC-4B9E-ACC108237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</p:spTree>
    <p:extLst>
      <p:ext uri="{BB962C8B-B14F-4D97-AF65-F5344CB8AC3E}">
        <p14:creationId xmlns:p14="http://schemas.microsoft.com/office/powerpoint/2010/main" val="3874429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D5CB-B7B8-537D-C94A-1E2352D44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BEDBD-1D32-1FD0-C16E-2C38F739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B0EF9-3C07-3C75-304F-2785BF6EC08E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2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9F05B1-3959-94C4-BEFD-B9B12855D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60" y="2109171"/>
            <a:ext cx="6160467" cy="3606127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7588D21-393B-2435-3253-95859A90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</p:spTree>
    <p:extLst>
      <p:ext uri="{BB962C8B-B14F-4D97-AF65-F5344CB8AC3E}">
        <p14:creationId xmlns:p14="http://schemas.microsoft.com/office/powerpoint/2010/main" val="278373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0FE8-8D11-0502-23A6-369D6CBA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236FA-23D3-1219-613D-9F3BCA9F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3AEA5-CBD1-F90B-EAE0-7FAD48AED3CC}"/>
              </a:ext>
            </a:extLst>
          </p:cNvPr>
          <p:cNvSpPr txBox="1"/>
          <p:nvPr/>
        </p:nvSpPr>
        <p:spPr>
          <a:xfrm>
            <a:off x="914399" y="6176963"/>
            <a:ext cx="7620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KU-</a:t>
            </a:r>
            <a:r>
              <a:rPr lang="en-US" altLang="ko-KR" sz="1200" dirty="0" err="1"/>
              <a:t>AlKon</a:t>
            </a:r>
            <a:r>
              <a:rPr lang="en-US" altLang="ko-KR" sz="1200" dirty="0"/>
              <a:t>-study, </a:t>
            </a:r>
            <a:r>
              <a:rPr lang="en-US" altLang="ko-KR" sz="1200" dirty="0" err="1"/>
              <a:t>donghoony</a:t>
            </a:r>
            <a:r>
              <a:rPr lang="en-US" altLang="ko-KR" sz="1200" dirty="0"/>
              <a:t> , </a:t>
            </a:r>
            <a:r>
              <a:rPr lang="en-US" altLang="ko-KR" sz="1200" dirty="0">
                <a:hlinkClick r:id="rId2"/>
              </a:rPr>
              <a:t>https://github.com/donghoony</a:t>
            </a:r>
            <a:endParaRPr lang="en-US" altLang="ko-KR" sz="1200" dirty="0"/>
          </a:p>
          <a:p>
            <a:r>
              <a:rPr lang="ko-KR" altLang="en-US" sz="1200" dirty="0"/>
              <a:t>이 저작물은 </a:t>
            </a:r>
            <a:r>
              <a:rPr lang="en-US" altLang="ko-KR" sz="1200" dirty="0"/>
              <a:t>CC BY-NC-SA </a:t>
            </a:r>
            <a:r>
              <a:rPr lang="ko-KR" altLang="en-US" sz="1200" dirty="0"/>
              <a:t>라이선스에 따라 이용하였습니다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5E14D9-2B73-3BE7-F0DD-CB4D1E874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54" y="1894760"/>
            <a:ext cx="6684032" cy="389745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CC4367D-05AF-3CAA-AA3D-FBC58790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</p:txBody>
      </p:sp>
    </p:spTree>
    <p:extLst>
      <p:ext uri="{BB962C8B-B14F-4D97-AF65-F5344CB8AC3E}">
        <p14:creationId xmlns:p14="http://schemas.microsoft.com/office/powerpoint/2010/main" val="2998870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38E1-ADAF-3BB1-DCC7-0B56D4AE0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6B04E-4D97-1DB4-7358-1CE8F11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652649-0F10-1998-0B08-CD1A9E18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5789B7-A20E-E461-0DBB-D69EC7721BC0}"/>
              </a:ext>
            </a:extLst>
          </p:cNvPr>
          <p:cNvSpPr txBox="1"/>
          <p:nvPr/>
        </p:nvSpPr>
        <p:spPr>
          <a:xfrm>
            <a:off x="212956" y="2372052"/>
            <a:ext cx="1153597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/** </a:t>
            </a:r>
            <a:endParaRPr lang="en-US" altLang="ko-KR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    * Dijkstra Algorithm</a:t>
            </a:r>
            <a:endParaRPr lang="en-US" altLang="ko-KR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    * </a:t>
            </a:r>
            <a:r>
              <a:rPr lang="ko-KR" alt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우선순위 큐에서 비용이 작은 경로부터 꺼내 탐색함</a:t>
            </a:r>
            <a:endParaRPr lang="ko-KR" altLang="en-US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    *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fill(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600" b="0" i="0" dirty="0" err="1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INF); 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기본값 초기화</a:t>
            </a:r>
            <a:endParaRPr lang="ko-KR" altLang="en-US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priority_queue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pq.push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({k, </a:t>
            </a:r>
            <a:r>
              <a:rPr lang="en-US" altLang="ko-KR" sz="1600" b="0" i="0" dirty="0"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}); 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시작 정점 넣기</a:t>
            </a:r>
            <a:endParaRPr lang="ko-KR" altLang="en-US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pq.empty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cur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pq.top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pq.</a:t>
            </a:r>
            <a:r>
              <a:rPr lang="en-US" altLang="ko-KR" sz="1600" b="0" i="0" dirty="0" err="1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cur.pos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cur.cost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현재 경로가 비용이 더 크다면 제외</a:t>
            </a:r>
            <a:endParaRPr lang="ko-KR" altLang="en-US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cur.pos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cur.cost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next:conn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cur.pos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ko-KR" sz="1600" b="0" i="0" dirty="0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cur.cost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next.cost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nextCost</a:t>
            </a:r>
            <a:r>
              <a:rPr lang="en-US" altLang="ko-KR" sz="16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next.pos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]) { </a:t>
            </a:r>
            <a:r>
              <a:rPr lang="en-US" altLang="ko-KR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현재 경로로 다음 정점에 도달하는 비용이 더 적다면</a:t>
            </a:r>
            <a:endParaRPr lang="ko-KR" altLang="en-US" sz="16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pq.push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next.pos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nextCost</a:t>
            </a: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}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}</a:t>
            </a:r>
          </a:p>
          <a:p>
            <a:pPr algn="l" latinLnBrk="0">
              <a:buNone/>
            </a:pPr>
            <a:r>
              <a:rPr lang="en-US" altLang="ko-KR" sz="16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5167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0F17-4475-7025-2FE1-81A5FFB3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545A1-A98B-1EA0-CDEC-6CDB8BB8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4A8B7D8-0CA5-9350-9450-BCB7A03F6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3200" dirty="0"/>
              <a:t>Dijkstra’s Algorithm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3200" dirty="0"/>
          </a:p>
          <a:p>
            <a:pPr marL="0" indent="0">
              <a:buNone/>
            </a:pPr>
            <a:r>
              <a:rPr lang="ko-KR" altLang="en-US" sz="3200" dirty="0">
                <a:hlinkClick r:id="rId2"/>
              </a:rPr>
              <a:t>연습 문제 </a:t>
            </a:r>
            <a:r>
              <a:rPr lang="en-US" altLang="ko-KR" sz="3200" dirty="0">
                <a:hlinkClick r:id="rId2"/>
              </a:rPr>
              <a:t>BOJ 1753</a:t>
            </a: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r>
              <a:rPr lang="ko-KR" altLang="en-US" sz="3200" dirty="0">
                <a:hlinkClick r:id="rId3"/>
              </a:rPr>
              <a:t>정답 코드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37877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7F148-CB0C-B3F9-B5BE-E2E92495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1BF0C-BC1B-43DE-03C6-E7CFA88F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8A3A939-ED84-010F-E1CE-F05EC8069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08" y="1825625"/>
            <a:ext cx="106997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19A974C-0F55-CE39-A262-E7633F562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112" y="1625790"/>
            <a:ext cx="4399981" cy="375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181178D-B69B-8CFA-0AEC-2470F993BD0F}"/>
              </a:ext>
            </a:extLst>
          </p:cNvPr>
          <p:cNvSpPr txBox="1">
            <a:spLocks/>
          </p:cNvSpPr>
          <p:nvPr/>
        </p:nvSpPr>
        <p:spPr>
          <a:xfrm>
            <a:off x="6685415" y="5514940"/>
            <a:ext cx="3845324" cy="935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/>
              <a:t>Bellman-Ford Algorithm </a:t>
            </a:r>
            <a:r>
              <a:rPr lang="ko-KR" altLang="en-US" sz="1600" dirty="0"/>
              <a:t>의사 코드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142580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BB41-D3E4-3399-4BCE-BBF3C9AA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BA083-299F-E12B-01E7-E1A03CDB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E78DC5-EE8B-D6B6-EA2A-DF82B7512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08" y="1825625"/>
            <a:ext cx="106997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  <a:p>
            <a:pPr marL="0" indent="0">
              <a:buNone/>
            </a:pPr>
            <a:r>
              <a:rPr lang="en-US" altLang="ko-KR" sz="2000" dirty="0"/>
              <a:t>1. S</a:t>
            </a:r>
            <a:r>
              <a:rPr lang="ko-KR" altLang="en-US" sz="2000" dirty="0"/>
              <a:t>는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초기화</a:t>
            </a:r>
            <a:r>
              <a:rPr lang="en-US" altLang="ko-KR" sz="2000" dirty="0"/>
              <a:t>, </a:t>
            </a:r>
            <a:r>
              <a:rPr lang="ko-KR" altLang="en-US" sz="2000" dirty="0"/>
              <a:t>나머지 정점의 거리를 </a:t>
            </a:r>
            <a:r>
              <a:rPr lang="en-US" altLang="ko-KR" sz="2000" dirty="0"/>
              <a:t>∞</a:t>
            </a:r>
            <a:r>
              <a:rPr lang="ko-KR" altLang="en-US" sz="2000" dirty="0"/>
              <a:t>로 초기화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1~N </a:t>
            </a:r>
            <a:r>
              <a:rPr lang="ko-KR" altLang="en-US" sz="2000" dirty="0"/>
              <a:t>정점 </a:t>
            </a:r>
            <a:r>
              <a:rPr lang="en-US" altLang="ko-KR" sz="2000" dirty="0"/>
              <a:t>cur</a:t>
            </a:r>
            <a:r>
              <a:rPr lang="ko-KR" altLang="en-US" sz="2000" dirty="0"/>
              <a:t>에 대해 </a:t>
            </a:r>
            <a:r>
              <a:rPr lang="en-US" altLang="ko-KR" sz="2000" dirty="0"/>
              <a:t>S -&gt; cur -&gt; next </a:t>
            </a:r>
            <a:r>
              <a:rPr lang="ko-KR" altLang="en-US" sz="2000" dirty="0"/>
              <a:t>경로의 거리가 현재 기록된 길이보다 짧으면 기록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만약 변경 사항이 있고</a:t>
            </a:r>
            <a:r>
              <a:rPr lang="en-US" altLang="ko-KR" sz="2000" dirty="0"/>
              <a:t>, N-1</a:t>
            </a:r>
            <a:r>
              <a:rPr lang="ko-KR" altLang="en-US" sz="2000" dirty="0"/>
              <a:t>번 반복하지 않았다면 </a:t>
            </a:r>
            <a:r>
              <a:rPr lang="en-US" altLang="ko-KR" sz="2000" dirty="0"/>
              <a:t>2. 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돌아감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4. </a:t>
            </a:r>
            <a:r>
              <a:rPr lang="ko-KR" altLang="en-US" sz="2000" dirty="0"/>
              <a:t>만약 </a:t>
            </a:r>
            <a:r>
              <a:rPr lang="en-US" altLang="ko-KR" sz="2000" dirty="0"/>
              <a:t>N-1</a:t>
            </a:r>
            <a:r>
              <a:rPr lang="ko-KR" altLang="en-US" sz="2000" dirty="0"/>
              <a:t>번의 업데이트를 하고도 더 짧은 거리로 업데이트된다면 음수 사이클이 존재함</a:t>
            </a:r>
            <a:r>
              <a:rPr lang="en-US" altLang="ko-KR" sz="20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072824BF-141E-36DC-33E8-2B693AAAE7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008" y="5262563"/>
                <a:ext cx="3394685" cy="390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ko-KR" altLang="en-US" sz="2000" dirty="0"/>
                  <a:t>시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간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복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잡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도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ko-KR" sz="2000" i="1" dirty="0" err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072824BF-141E-36DC-33E8-2B693AAAE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08" y="5262563"/>
                <a:ext cx="3394685" cy="390736"/>
              </a:xfrm>
              <a:prstGeom prst="rect">
                <a:avLst/>
              </a:prstGeom>
              <a:blipFill>
                <a:blip r:embed="rId2"/>
                <a:stretch>
                  <a:fillRect l="-1795" t="-15625" b="-21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003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CD60-5E13-3443-EEEB-B564A23B9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B4A70-BADB-FC81-5549-03184F21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45066-1426-C1FD-8D74-13D5006E07C6}"/>
              </a:ext>
            </a:extLst>
          </p:cNvPr>
          <p:cNvSpPr txBox="1"/>
          <p:nvPr/>
        </p:nvSpPr>
        <p:spPr>
          <a:xfrm>
            <a:off x="914399" y="6176963"/>
            <a:ext cx="7620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ratsgo’s</a:t>
            </a:r>
            <a:r>
              <a:rPr lang="en-US" altLang="ko-KR" sz="1200" dirty="0"/>
              <a:t> blog</a:t>
            </a:r>
            <a:endParaRPr lang="ko-KR" altLang="en-US" sz="12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3C7F8B4-572A-EEF0-362A-64C4EC90D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A463FAF-3CB4-2845-1C1F-5C30AFD05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02" b="49988"/>
          <a:stretch>
            <a:fillRect/>
          </a:stretch>
        </p:blipFill>
        <p:spPr bwMode="auto">
          <a:xfrm>
            <a:off x="6425021" y="1537098"/>
            <a:ext cx="5304731" cy="477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8905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4F5C-6205-F52D-C248-4D5F3DA1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265EB-614D-3454-FAB6-EBA5E2A4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904D1-F5DC-EC1E-4151-4B9D6602A16F}"/>
              </a:ext>
            </a:extLst>
          </p:cNvPr>
          <p:cNvSpPr txBox="1"/>
          <p:nvPr/>
        </p:nvSpPr>
        <p:spPr>
          <a:xfrm>
            <a:off x="914399" y="6176963"/>
            <a:ext cx="7620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ratsgo’s</a:t>
            </a:r>
            <a:r>
              <a:rPr lang="en-US" altLang="ko-KR" sz="1200" dirty="0"/>
              <a:t> blog</a:t>
            </a:r>
            <a:endParaRPr lang="ko-KR" altLang="en-US" sz="12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77AE283-BE09-B35C-0DF5-3E7D5850A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3CFC09-040E-A4C6-7FF1-BE81E7406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72" t="12" r="33891" b="49988"/>
          <a:stretch>
            <a:fillRect/>
          </a:stretch>
        </p:blipFill>
        <p:spPr bwMode="auto">
          <a:xfrm>
            <a:off x="6025350" y="1552266"/>
            <a:ext cx="5764959" cy="494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482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3447-DB44-11D5-A839-C343DB44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8946B-C47B-0151-C7E8-81817762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BF2D6-5446-C1F9-211F-00733731D5E9}"/>
              </a:ext>
            </a:extLst>
          </p:cNvPr>
          <p:cNvSpPr txBox="1"/>
          <p:nvPr/>
        </p:nvSpPr>
        <p:spPr>
          <a:xfrm>
            <a:off x="914399" y="6176963"/>
            <a:ext cx="7620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ratsgo’s</a:t>
            </a:r>
            <a:r>
              <a:rPr lang="en-US" altLang="ko-KR" sz="1200" dirty="0"/>
              <a:t> blog</a:t>
            </a:r>
            <a:endParaRPr lang="ko-KR" altLang="en-US" sz="12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BC6031D-B274-82AB-28CC-CB1863BA5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01E53F3-4AFD-1ABC-8013-C2F078801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90" b="51467"/>
          <a:stretch>
            <a:fillRect/>
          </a:stretch>
        </p:blipFill>
        <p:spPr bwMode="auto">
          <a:xfrm>
            <a:off x="6011221" y="1690688"/>
            <a:ext cx="5715842" cy="488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831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48FC-2B4E-E71A-5EC1-F444BCEE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66E0E-0CC7-3CD3-EAC9-455358C41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B89A8-6098-A241-FAC8-58B60F919C79}"/>
              </a:ext>
            </a:extLst>
          </p:cNvPr>
          <p:cNvSpPr txBox="1"/>
          <p:nvPr/>
        </p:nvSpPr>
        <p:spPr>
          <a:xfrm>
            <a:off x="914399" y="6176963"/>
            <a:ext cx="7620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ratsgo’s</a:t>
            </a:r>
            <a:r>
              <a:rPr lang="en-US" altLang="ko-KR" sz="1200" dirty="0"/>
              <a:t> blog</a:t>
            </a:r>
            <a:endParaRPr lang="ko-KR" altLang="en-US" sz="12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2713692-FC27-3D22-3A7C-09D925075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2C58C75-B723-63A5-673D-21C8379602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28" r="70000"/>
          <a:stretch>
            <a:fillRect/>
          </a:stretch>
        </p:blipFill>
        <p:spPr bwMode="auto">
          <a:xfrm>
            <a:off x="6018789" y="1548626"/>
            <a:ext cx="5376811" cy="4731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951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F411-5019-C60E-0C4A-AF79F7D2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13B5B-206A-155C-D058-D292007D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BF54D-5D6A-0E66-3FAD-9D66542B2B4A}"/>
              </a:ext>
            </a:extLst>
          </p:cNvPr>
          <p:cNvSpPr txBox="1"/>
          <p:nvPr/>
        </p:nvSpPr>
        <p:spPr>
          <a:xfrm>
            <a:off x="914399" y="6176963"/>
            <a:ext cx="7620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ratsgo’s</a:t>
            </a:r>
            <a:r>
              <a:rPr lang="en-US" altLang="ko-KR" sz="1200" dirty="0"/>
              <a:t> blog</a:t>
            </a:r>
            <a:endParaRPr lang="ko-KR" altLang="en-US" sz="12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F23EBD3-407C-BFA6-00C3-ACAB357A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5CB9EE-6D1F-0DD4-1E07-E1C09609D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4" t="52265" r="34437"/>
          <a:stretch>
            <a:fillRect/>
          </a:stretch>
        </p:blipFill>
        <p:spPr bwMode="auto">
          <a:xfrm>
            <a:off x="5950665" y="1690688"/>
            <a:ext cx="5899232" cy="484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908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5395-E9F2-A966-04F8-E1B95BBD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93646-12A9-FF5A-351C-FD737036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CC3CD65-1EF5-E357-C2B2-B2DDB1DE6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EE2A5-24AF-DA2B-7684-E377F682F4C0}"/>
              </a:ext>
            </a:extLst>
          </p:cNvPr>
          <p:cNvSpPr txBox="1"/>
          <p:nvPr/>
        </p:nvSpPr>
        <p:spPr>
          <a:xfrm>
            <a:off x="423896" y="2246470"/>
            <a:ext cx="1100257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/** </a:t>
            </a:r>
            <a:endParaRPr lang="en-US" altLang="ko-KR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* Bellman-Ford Algorithm</a:t>
            </a:r>
            <a:endParaRPr lang="en-US" altLang="ko-KR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* - </a:t>
            </a:r>
            <a:r>
              <a:rPr lang="ko-KR" altLang="en-US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음수 사이클이 존재하는 경우 </a:t>
            </a: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return false</a:t>
            </a:r>
            <a:endParaRPr lang="en-US" altLang="ko-KR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 */</a:t>
            </a:r>
            <a:endParaRPr lang="en-US" altLang="ko-KR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bellman_ford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fill(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 err="1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, INF);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i="0" dirty="0"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i="0" dirty="0"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dirty="0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i="0" dirty="0"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;i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n;i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200" b="0" i="0" dirty="0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change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=false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dirty="0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cur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i="0" dirty="0">
                <a:solidFill>
                  <a:srgbClr val="0099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;cur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n;cur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모든 정점에 대해 모든 간선을 살펴보기</a:t>
            </a:r>
            <a:endParaRPr lang="ko-KR" altLang="en-US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[cur]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INF)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도달 못한 정점은 패스</a:t>
            </a:r>
            <a:endParaRPr lang="ko-KR" altLang="en-US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ko-KR" altLang="en-US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next:conn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[cur]) {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US" altLang="ko-KR" sz="1200" b="0" i="0" dirty="0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66DE2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[cur]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next.cost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nextCost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next.pos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       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minCost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next.pos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 err="1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nextCost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        change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=true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    }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    }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}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change)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i="0" dirty="0"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n-1</a:t>
            </a:r>
            <a:r>
              <a:rPr lang="ko-KR" altLang="en-US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번의 업데이트를 진행하고도 변화가 있으면 사이클 존재</a:t>
            </a:r>
            <a:endParaRPr lang="ko-KR" altLang="en-US" sz="1200" b="0" i="0" dirty="0">
              <a:solidFill>
                <a:srgbClr val="010101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US" altLang="ko-KR" sz="1200" b="0" i="0" dirty="0">
                <a:solidFill>
                  <a:srgbClr val="010101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3387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FF99-9ADD-8020-6350-3DEB3C16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4885C-65AB-B2CB-A36C-8287EB55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간선에</a:t>
            </a:r>
            <a:r>
              <a:rPr lang="en-US" altLang="ko-KR" dirty="0"/>
              <a:t> </a:t>
            </a:r>
            <a:r>
              <a:rPr lang="ko-KR" altLang="en-US" dirty="0"/>
              <a:t>가중치가 있다면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72355BC-4D5B-7ABE-6685-CCCBAEF3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/>
              <a:t>2. Bellman-Ford Algorithm</a:t>
            </a:r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r>
              <a:rPr lang="ko-KR" altLang="en-US" sz="3200" dirty="0">
                <a:hlinkClick r:id="rId2"/>
              </a:rPr>
              <a:t>연습 문제 </a:t>
            </a:r>
            <a:r>
              <a:rPr lang="en-US" altLang="ko-KR" sz="3200" dirty="0">
                <a:hlinkClick r:id="rId2"/>
              </a:rPr>
              <a:t>BOJ 11657</a:t>
            </a: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r>
              <a:rPr lang="ko-KR" altLang="en-US" sz="3200" dirty="0">
                <a:hlinkClick r:id="rId3"/>
              </a:rPr>
              <a:t>정답 코드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25599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2123</TotalTime>
  <Words>965</Words>
  <Application>Microsoft Office PowerPoint</Application>
  <PresentationFormat>와이드스크린</PresentationFormat>
  <Paragraphs>155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Cambria Math</vt:lpstr>
      <vt:lpstr>Consolas</vt:lpstr>
      <vt:lpstr>Office 테마</vt:lpstr>
      <vt:lpstr>자구&amp;알고 스터디</vt:lpstr>
      <vt:lpstr>Shortest Path (최단 경로)</vt:lpstr>
      <vt:lpstr>간선에 가중치가 없다면?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  <vt:lpstr>간선에 가중치가 있다면?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이태규</dc:creator>
  <cp:lastModifiedBy>5323565 Joey</cp:lastModifiedBy>
  <cp:revision>600</cp:revision>
  <dcterms:created xsi:type="dcterms:W3CDTF">2025-09-07T07:21:38Z</dcterms:created>
  <dcterms:modified xsi:type="dcterms:W3CDTF">2025-11-17T07:50:44Z</dcterms:modified>
</cp:coreProperties>
</file>