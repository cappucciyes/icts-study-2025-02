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4" r:id="rId3"/>
    <p:sldId id="275" r:id="rId4"/>
    <p:sldId id="276" r:id="rId5"/>
    <p:sldId id="286" r:id="rId6"/>
    <p:sldId id="287" r:id="rId7"/>
    <p:sldId id="279" r:id="rId8"/>
    <p:sldId id="280" r:id="rId9"/>
    <p:sldId id="281" r:id="rId10"/>
    <p:sldId id="282" r:id="rId11"/>
    <p:sldId id="283" r:id="rId12"/>
    <p:sldId id="284" r:id="rId13"/>
    <p:sldId id="28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AC852-3943-4D51-80F6-C4AAF313C63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BDA249-7C39-4352-9E45-C2A700C6EF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437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91600-1290-79B0-79CC-7E2CFBA37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8C8A10-28B2-6B33-723A-C8228B0D4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DFAC2E-4229-0574-0B42-75CD03D4B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549B39-723D-8DC0-4E9D-EFFAF1E2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783DE1-650A-36F6-6C03-CDFDC6EBA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81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9DE04-2E55-0B3E-F3C6-D33158984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992656D-974E-264F-566D-87DD7CA1F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808C91-5F7C-2B73-5157-2DFEE482E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BBA6AD-96B7-F377-55EF-A2DBD7727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7D60F2-8AD5-06E6-9767-27C8FCBC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60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0E23D1-089F-9926-9265-0A911F9AB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3E1A64-96C0-855D-2661-A0FEFF369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6EFFDC-E59A-31C5-809B-72C1D2CD9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C5ECF-1952-9C24-4222-DE41CC40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B4F296-578E-79BD-2D9B-B6647C818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888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85772-9DD8-F373-2D4C-4174C8AA8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A92EF5-CA5C-79CC-71E3-B68626ED7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3A2304-0129-4DC7-6BE8-125BB259D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1789E6-D8EC-7B16-E02C-EFAA587A8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E5B10E-627D-7A59-3BD4-7B7EDC0FC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D17AE4-CDD5-B47F-CD44-8E54175A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920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1898D-D98F-C86E-2F24-743E8C056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4AF86ED-8CD1-3ADE-35D1-40DD3646A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D91F8E-CCA0-FAAF-6050-57CB6B266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B49BED6-C560-D0B7-3083-9C946B560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A4ABFF0-3842-262E-DBE1-C0FDD14E1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29AF9FE-E75B-B59B-771A-C19D60C5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B830B46-E655-777C-DD63-EC05DC46A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C7D3442-D774-6A4B-962B-F495F8F1F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631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DC544B-5293-1FFF-20E0-3B48D3507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381B5F6-E3E9-B6AA-D3F4-5F44FE374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63984E-5335-A94F-40FF-B8860ACEE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B2E13A-C8CB-6C60-82D5-4AB56A8FE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611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AAA4128-7C05-07B2-0AB7-F5EA709DB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D5B2FD-0635-9306-63B7-495C25F42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7B179B-2404-8F11-7315-3856C2D0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255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B9E0D-A985-199A-30C9-5455E9636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3E9A32-6091-B4D7-2A95-56593DE1B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0A524D-AFA8-E687-BC6D-E4E1D5B3DE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6CB03-E1F3-3453-4B15-56D3145D2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1CADDD-B757-E3AD-A0DE-335854488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44C2ED-274C-A116-62F3-B58898970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85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76A49B-7C3A-795A-D97A-F1B0DCBA5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46C7ED-D1EA-E03C-62E6-5D5322C934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C0C8E8-83F5-7D6E-94BF-3A6899179A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B2579B-256E-AA8A-B1F6-C26F3A26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CBC8E4-8FDF-8572-035B-FEA7EA877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AF9882-077A-CAC2-F083-8E23ABEE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514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F54073-27B2-5F4F-4C1D-A5359877A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4B4666-EB99-D106-12F4-BF4B4617F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7002B9-6BF5-17F8-BCB8-D18910981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4B879F-6566-0BDF-0D4B-5C3BC2E3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FD1B1-B85D-94DF-6190-5EDF3B0FE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556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33C1A51-AA07-93A1-B2BA-1AE95DD7E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94E7333-0723-2509-4B18-0ED9653ED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EEE390-8EFE-325F-4E92-34B63FFE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42074-AB8A-4DE3-842B-2B238FAEC81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E0D9B9-17B9-3E9A-ECC0-B8B8C280B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7722C0-040D-30ED-49D5-D39296C3A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177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B036321-93C5-32E8-43F1-95B9D8E48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93689C-20E1-2835-A92B-5B87C4747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2D60AD-4BEF-863F-CE9F-4A934AA1C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F42074-AB8A-4DE3-842B-2B238FAEC81C}" type="datetimeFigureOut">
              <a:rPr lang="ko-KR" altLang="en-US" smtClean="0"/>
              <a:t>2025-11-03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BF470F-2FD6-C59C-DC61-3266505C3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35973C-09A2-0401-1519-0C4272B6D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62FF6-2C55-4862-AAF2-0B53C5D9BD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04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boj.kr/18432470cafd4ad089d36e986c38cf6b" TargetMode="External"/><Relationship Id="rId2" Type="http://schemas.openxmlformats.org/officeDocument/2006/relationships/hyperlink" Target="https://www.acmicpc.net/problem/1904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boj.kr/4bd578782be94743ab1c4f05198438ea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boj.kr/2ee43aa071bd44c598cd72f08c1c6f82" TargetMode="External"/><Relationship Id="rId2" Type="http://schemas.openxmlformats.org/officeDocument/2006/relationships/hyperlink" Target="https://www.acmicpc.net/problem/12865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F43CA-A23F-1B98-C63A-0791B16D14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자구</a:t>
            </a:r>
            <a:r>
              <a:rPr lang="en-US" altLang="ko-KR" dirty="0"/>
              <a:t>&amp;</a:t>
            </a:r>
            <a:r>
              <a:rPr lang="ko-KR" altLang="en-US" dirty="0"/>
              <a:t>알고 스터디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7C2082-1E01-80C1-C0E4-FDA571708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0" y="3619291"/>
            <a:ext cx="8229600" cy="1655762"/>
          </a:xfrm>
        </p:spPr>
        <p:txBody>
          <a:bodyPr/>
          <a:lstStyle/>
          <a:p>
            <a:r>
              <a:rPr lang="ko-KR" altLang="en-US" dirty="0"/>
              <a:t>동적 계획법 </a:t>
            </a:r>
            <a:r>
              <a:rPr lang="en-US" altLang="ko-KR" dirty="0"/>
              <a:t>(Dynamic Programming)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005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18C4E-ACF0-2C0D-5AA3-7AE77492C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2F0DB-F042-F45C-530E-65453CFDF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계획법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B0450C-EE9A-3ABC-9CEC-E77FB89D3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주어진 문제를 더 간단한 문제로 분해한 뒤</a:t>
            </a:r>
            <a:r>
              <a:rPr lang="en-US" altLang="ko-KR" sz="2400" dirty="0"/>
              <a:t>, </a:t>
            </a:r>
            <a:r>
              <a:rPr lang="ko-KR" altLang="en-US" sz="2400" dirty="0"/>
              <a:t>간단한 하위 문제를 해결하고 원래 문제를 해결하는 방식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이를 재귀적으로 접근하면 된다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구체적인 </a:t>
            </a:r>
            <a:r>
              <a:rPr lang="ko-KR" altLang="en-US" sz="2400" dirty="0" err="1"/>
              <a:t>알고리즘이라기보단</a:t>
            </a:r>
            <a:r>
              <a:rPr lang="ko-KR" altLang="en-US" sz="2400" dirty="0"/>
              <a:t> 문제 해결 접근할 수 있는 유형임</a:t>
            </a:r>
            <a:r>
              <a:rPr lang="en-US" altLang="ko-KR" sz="2400" dirty="0"/>
              <a:t>.</a:t>
            </a:r>
            <a:r>
              <a:rPr lang="ko-KR" altLang="en-US" sz="2400" dirty="0"/>
              <a:t> 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010573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5AC79-B1ED-BD8F-8794-0611C0994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E97148-EC2A-4D3F-8A36-A162B040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계획법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2DF055-AE40-2F6B-7F1D-E986EC77E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예시</a:t>
            </a:r>
            <a:r>
              <a:rPr lang="en-US" altLang="ko-KR" sz="2400" dirty="0"/>
              <a:t>:</a:t>
            </a:r>
            <a:r>
              <a:rPr lang="ko-KR" altLang="en-US" sz="2400" dirty="0"/>
              <a:t> 최단 거리</a:t>
            </a:r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pic>
        <p:nvPicPr>
          <p:cNvPr id="5" name="그림 4" descr="어둠, 원, 블랙, 빛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7B012B-8156-B488-E0E4-5BC00AE25C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166" y="2898631"/>
            <a:ext cx="5084938" cy="2722562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75B49013-6620-637B-74EA-CEF9B546BE8B}"/>
              </a:ext>
            </a:extLst>
          </p:cNvPr>
          <p:cNvGrpSpPr/>
          <p:nvPr/>
        </p:nvGrpSpPr>
        <p:grpSpPr>
          <a:xfrm>
            <a:off x="1233445" y="2236528"/>
            <a:ext cx="3001917" cy="3812574"/>
            <a:chOff x="1782520" y="2190346"/>
            <a:chExt cx="3001917" cy="3812574"/>
          </a:xfrm>
        </p:grpSpPr>
        <p:pic>
          <p:nvPicPr>
            <p:cNvPr id="7" name="그림 6" descr="원, 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220E07C-DEF7-6488-C804-589392DE4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554437">
              <a:off x="1142008" y="2830858"/>
              <a:ext cx="3812574" cy="2531550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E1288B7-1CF8-9E2D-1631-114C26CF8A89}"/>
                </a:ext>
              </a:extLst>
            </p:cNvPr>
            <p:cNvSpPr/>
            <p:nvPr/>
          </p:nvSpPr>
          <p:spPr>
            <a:xfrm>
              <a:off x="4507347" y="3239654"/>
              <a:ext cx="277090" cy="3524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9B374EA-A23E-3ED3-9DB8-345BAA5942B5}"/>
                </a:ext>
              </a:extLst>
            </p:cNvPr>
            <p:cNvSpPr/>
            <p:nvPr/>
          </p:nvSpPr>
          <p:spPr>
            <a:xfrm rot="18002818">
              <a:off x="2449530" y="3168073"/>
              <a:ext cx="323273" cy="3786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FC5BFBD-8A30-B4F5-6359-35805DE4BDC5}"/>
                </a:ext>
              </a:extLst>
            </p:cNvPr>
            <p:cNvSpPr/>
            <p:nvPr/>
          </p:nvSpPr>
          <p:spPr>
            <a:xfrm>
              <a:off x="3478438" y="3618345"/>
              <a:ext cx="323273" cy="3786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1C53796-446D-F731-1B2C-87CE6D7B8253}"/>
                </a:ext>
              </a:extLst>
            </p:cNvPr>
            <p:cNvSpPr/>
            <p:nvPr/>
          </p:nvSpPr>
          <p:spPr>
            <a:xfrm rot="18019108">
              <a:off x="2987167" y="4621908"/>
              <a:ext cx="256803" cy="4216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89691A5-FB77-088C-40F8-276674711A06}"/>
                </a:ext>
              </a:extLst>
            </p:cNvPr>
            <p:cNvSpPr/>
            <p:nvPr/>
          </p:nvSpPr>
          <p:spPr>
            <a:xfrm rot="17881059">
              <a:off x="1943168" y="4166054"/>
              <a:ext cx="301696" cy="35447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0C6237B-7B09-4735-65CB-D72C6751A51D}"/>
                </a:ext>
              </a:extLst>
            </p:cNvPr>
            <p:cNvSpPr/>
            <p:nvPr/>
          </p:nvSpPr>
          <p:spPr>
            <a:xfrm rot="19981264">
              <a:off x="2062550" y="5157519"/>
              <a:ext cx="380111" cy="4216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0DB527E-9C38-4D4D-5C5E-FD4B876C930B}"/>
              </a:ext>
            </a:extLst>
          </p:cNvPr>
          <p:cNvSpPr txBox="1"/>
          <p:nvPr/>
        </p:nvSpPr>
        <p:spPr>
          <a:xfrm>
            <a:off x="3722283" y="3244334"/>
            <a:ext cx="74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goal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5D2416-40B5-4D16-2B3B-9DD42D920E30}"/>
              </a:ext>
            </a:extLst>
          </p:cNvPr>
          <p:cNvSpPr txBox="1"/>
          <p:nvPr/>
        </p:nvSpPr>
        <p:spPr>
          <a:xfrm>
            <a:off x="1170407" y="4178012"/>
            <a:ext cx="749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start</a:t>
            </a:r>
            <a:endParaRPr lang="ko-KR" altLang="en-US" dirty="0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C3881DB4-3E5A-94FE-0DCD-F0734C3B2AC1}"/>
              </a:ext>
            </a:extLst>
          </p:cNvPr>
          <p:cNvSpPr/>
          <p:nvPr/>
        </p:nvSpPr>
        <p:spPr>
          <a:xfrm>
            <a:off x="4578608" y="4101104"/>
            <a:ext cx="1690254" cy="1588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8473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F119C-0AAB-AEA8-29F9-AE3DBF07B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5EC9C-6826-C0F1-3B47-09243779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계획법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7D87C9-06CE-4835-7643-E03490FE7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최적 부분 구조 </a:t>
            </a:r>
            <a:r>
              <a:rPr lang="en-US" altLang="ko-KR" sz="2400" dirty="0"/>
              <a:t>(Optimal Substructure)</a:t>
            </a:r>
          </a:p>
          <a:p>
            <a:pPr lvl="1"/>
            <a:r>
              <a:rPr lang="ko-KR" altLang="en-US" sz="2000" dirty="0"/>
              <a:t>큰 문제의 최적해가 작은 문제의 최적해를 포함한다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2000" dirty="0"/>
              <a:t>간단히 말하면 점화식을 찾아야 함</a:t>
            </a:r>
            <a:endParaRPr lang="en-US" altLang="ko-KR" sz="2000" dirty="0"/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예시</a:t>
            </a:r>
            <a:r>
              <a:rPr lang="en-US" altLang="ko-KR" sz="2400" dirty="0"/>
              <a:t>: </a:t>
            </a:r>
            <a:r>
              <a:rPr lang="ko-KR" altLang="en-US" sz="2400" dirty="0"/>
              <a:t>피보나치</a:t>
            </a:r>
            <a:r>
              <a:rPr lang="en-US" altLang="ko-KR" sz="2400" dirty="0"/>
              <a:t>:</a:t>
            </a:r>
          </a:p>
          <a:p>
            <a:pPr lvl="1"/>
            <a:r>
              <a:rPr lang="en-US" altLang="ko-KR" sz="2000" dirty="0"/>
              <a:t>F(N) = F(N – 1) + F(N – 2)</a:t>
            </a:r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예시</a:t>
            </a:r>
            <a:r>
              <a:rPr lang="en-US" altLang="ko-KR" sz="2400" dirty="0"/>
              <a:t>: </a:t>
            </a:r>
            <a:r>
              <a:rPr lang="ko-KR" altLang="en-US" sz="2400" dirty="0"/>
              <a:t>최단 거리</a:t>
            </a:r>
            <a:endParaRPr lang="en-US" altLang="ko-KR" sz="2400" dirty="0"/>
          </a:p>
          <a:p>
            <a:pPr lvl="1"/>
            <a:r>
              <a:rPr lang="en-US" altLang="ko-KR" sz="2000" dirty="0"/>
              <a:t>P(n, k) = min(P(n, s) + P(s, k))</a:t>
            </a:r>
          </a:p>
          <a:p>
            <a:pPr lvl="1"/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886060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0DDED-9D92-D920-945F-8CECC4589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18D768-A80E-8243-6905-45548D890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계획법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BB16FF-F650-E86C-6BAA-C7C484257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중복되는 부분 문제 </a:t>
            </a:r>
            <a:r>
              <a:rPr lang="en-US" altLang="ko-KR" sz="2400" dirty="0"/>
              <a:t>(Overlapping Subproblem)</a:t>
            </a:r>
          </a:p>
          <a:p>
            <a:pPr lvl="1"/>
            <a:r>
              <a:rPr lang="ko-KR" altLang="en-US" sz="2000" dirty="0"/>
              <a:t>같은 작은 문제가 여러 번 반복되어 등장한다</a:t>
            </a:r>
            <a:r>
              <a:rPr lang="en-US" altLang="ko-KR" sz="2000" dirty="0"/>
              <a:t>.</a:t>
            </a:r>
          </a:p>
          <a:p>
            <a:pPr lvl="1"/>
            <a:r>
              <a:rPr lang="ko-KR" altLang="en-US" sz="2000" dirty="0"/>
              <a:t>간단히 말하면 이미 계산한 작은 문제의 결과를 재사용해야 함</a:t>
            </a:r>
            <a:r>
              <a:rPr lang="en-US" altLang="ko-KR" sz="2000" dirty="0"/>
              <a:t>.</a:t>
            </a:r>
          </a:p>
          <a:p>
            <a:pPr marL="457200" lvl="1" indent="0">
              <a:buNone/>
            </a:pPr>
            <a:endParaRPr lang="en-US" altLang="ko-KR" sz="2000" dirty="0"/>
          </a:p>
          <a:p>
            <a:r>
              <a:rPr lang="ko-KR" altLang="en-US" sz="2400" dirty="0"/>
              <a:t>이미 계산한 작은 문제의 결과를 재사용하는 방법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/>
              <a:t>“</a:t>
            </a:r>
            <a:r>
              <a:rPr lang="ko-KR" altLang="en-US" sz="2400" dirty="0" err="1"/>
              <a:t>메모이제이션</a:t>
            </a:r>
            <a:r>
              <a:rPr lang="en-US" altLang="ko-KR" sz="2400" dirty="0"/>
              <a:t>”</a:t>
            </a:r>
          </a:p>
          <a:p>
            <a:pPr lvl="1"/>
            <a:r>
              <a:rPr lang="ko-KR" altLang="en-US" sz="2000" dirty="0"/>
              <a:t>이미 계산한 값들을 배열 같은 데에다가 저장하세요</a:t>
            </a:r>
            <a:r>
              <a:rPr lang="en-US" altLang="ko-KR" sz="2000" dirty="0"/>
              <a:t>.</a:t>
            </a:r>
          </a:p>
          <a:p>
            <a:pPr lvl="1"/>
            <a:endParaRPr lang="en-US" altLang="ko-KR" sz="2000" dirty="0"/>
          </a:p>
          <a:p>
            <a:r>
              <a:rPr lang="ko-KR" altLang="en-US" sz="2400" dirty="0"/>
              <a:t>예시</a:t>
            </a:r>
            <a:r>
              <a:rPr lang="en-US" altLang="ko-KR" sz="2400" dirty="0"/>
              <a:t>: </a:t>
            </a:r>
            <a:r>
              <a:rPr lang="ko-KR" altLang="en-US" sz="2400" dirty="0"/>
              <a:t>피보나치</a:t>
            </a:r>
          </a:p>
          <a:p>
            <a:pPr lvl="1"/>
            <a:r>
              <a:rPr lang="en-US" altLang="ko-KR" sz="2000" dirty="0"/>
              <a:t>F(N)</a:t>
            </a:r>
            <a:r>
              <a:rPr lang="ko-KR" altLang="en-US" sz="2000" dirty="0"/>
              <a:t>을 구할 때 </a:t>
            </a:r>
            <a:r>
              <a:rPr lang="en-US" altLang="ko-KR" sz="2000" dirty="0"/>
              <a:t>F(x) (x &lt;= N-2), </a:t>
            </a:r>
            <a:r>
              <a:rPr lang="ko-KR" altLang="en-US" sz="2000" dirty="0"/>
              <a:t>를 반복 계산함</a:t>
            </a:r>
          </a:p>
          <a:p>
            <a:pPr lvl="1"/>
            <a:r>
              <a:rPr lang="ko-KR" altLang="en-US" sz="2000" dirty="0"/>
              <a:t>따라서 이전에 계산한 값을 저장해두면 효율적임</a:t>
            </a:r>
            <a:endParaRPr lang="en-US" altLang="ko-KR" sz="2000" dirty="0"/>
          </a:p>
          <a:p>
            <a:pPr lvl="1"/>
            <a:endParaRPr lang="ko-KR" altLang="en-US" sz="2000" dirty="0"/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912600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68520-1158-0163-79BE-7731261C9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E0D586-0C6C-7190-A0DF-856CA6D5E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계획법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CF168-1986-3065-4AE1-1F79D8776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유명한 유형들이 많고</a:t>
            </a:r>
            <a:r>
              <a:rPr lang="en-US" altLang="ko-KR" sz="2400" dirty="0"/>
              <a:t>, </a:t>
            </a:r>
            <a:r>
              <a:rPr lang="ko-KR" altLang="en-US" sz="2400" dirty="0"/>
              <a:t>이를 알아두면 편함</a:t>
            </a:r>
            <a:endParaRPr lang="en-US" altLang="ko-KR" sz="2400" dirty="0"/>
          </a:p>
          <a:p>
            <a:pPr lvl="1"/>
            <a:r>
              <a:rPr lang="ko-KR" altLang="en-US" sz="2000" dirty="0"/>
              <a:t>백준 밀다 보면 비슷한 문제들 많이 볼 수 있음</a:t>
            </a:r>
            <a:endParaRPr lang="en-US" altLang="ko-KR" sz="2000" dirty="0"/>
          </a:p>
          <a:p>
            <a:r>
              <a:rPr lang="ko-KR" altLang="en-US" sz="2400" dirty="0"/>
              <a:t>솔직히 머리 싸움임</a:t>
            </a:r>
            <a:r>
              <a:rPr lang="en-US" altLang="ko-KR" sz="2400" dirty="0"/>
              <a:t>;;;</a:t>
            </a:r>
          </a:p>
          <a:p>
            <a:endParaRPr lang="en-US" altLang="ko-KR" sz="2400" dirty="0"/>
          </a:p>
          <a:p>
            <a:pPr marL="457200" lvl="1" indent="0">
              <a:buNone/>
            </a:pP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528875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F03B4-2A74-4BD6-298C-8EDD6B7DE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2EBAB4-6632-6E32-75BB-9D04E065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9AF458-5991-1A4B-77AF-3473FBE46A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피보나치 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2"/>
              </a:rPr>
              <a:t>https://www.acmicpc.net/problem/1904</a:t>
            </a:r>
            <a:endParaRPr lang="en-US" altLang="ko-KR" sz="2400" dirty="0"/>
          </a:p>
          <a:p>
            <a:pPr lvl="1"/>
            <a:r>
              <a:rPr lang="ko-KR" altLang="en-US" sz="2000" dirty="0"/>
              <a:t>예시 답변 </a:t>
            </a:r>
            <a:r>
              <a:rPr lang="en-US" altLang="ko-KR" sz="2000" dirty="0"/>
              <a:t>: </a:t>
            </a:r>
            <a:r>
              <a:rPr lang="en-US" altLang="ko-KR" sz="2000" dirty="0">
                <a:hlinkClick r:id="rId3"/>
              </a:rPr>
              <a:t>http://boj.kr/18432470cafd4ad089d36e986c38cf6b</a:t>
            </a:r>
            <a:endParaRPr lang="en-US" altLang="ko-KR" sz="2000" dirty="0"/>
          </a:p>
          <a:p>
            <a:pPr lvl="1"/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877776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45343-B91C-13C8-84E9-05B57AF66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6064A-36BB-B8FB-23C6-8BFEB963A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 </a:t>
            </a:r>
            <a:r>
              <a:rPr lang="en-US" altLang="ko-KR" dirty="0"/>
              <a:t>1 </a:t>
            </a:r>
            <a:r>
              <a:rPr lang="ko-KR" altLang="en-US" dirty="0"/>
              <a:t>해설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7168E-DB4F-7894-66DF-30CDA1991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/>
              <a:t>점화식</a:t>
            </a:r>
            <a:r>
              <a:rPr lang="ko-KR" altLang="en-US" sz="2400" dirty="0"/>
              <a:t> </a:t>
            </a:r>
            <a:r>
              <a:rPr lang="en-US" altLang="ko-KR" sz="2400" dirty="0"/>
              <a:t>: count(n) = count(n – 1) + count(n – 2)</a:t>
            </a:r>
          </a:p>
          <a:p>
            <a:pPr lvl="1"/>
            <a:r>
              <a:rPr lang="ko-KR" altLang="en-US" sz="2000" dirty="0"/>
              <a:t>이때</a:t>
            </a:r>
            <a:r>
              <a:rPr lang="en-US" altLang="ko-KR" sz="2000" dirty="0"/>
              <a:t>, count(1) = 1, count(2) = 2</a:t>
            </a:r>
          </a:p>
          <a:p>
            <a:r>
              <a:rPr lang="ko-KR" altLang="en-US" sz="2400" dirty="0"/>
              <a:t>한 배열 </a:t>
            </a:r>
            <a:r>
              <a:rPr lang="en-US" altLang="ko-KR" sz="2400" dirty="0"/>
              <a:t>memo</a:t>
            </a:r>
            <a:r>
              <a:rPr lang="ko-KR" altLang="en-US" sz="2400" dirty="0"/>
              <a:t>에 </a:t>
            </a:r>
            <a:r>
              <a:rPr lang="en-US" altLang="ko-KR" sz="2400" dirty="0"/>
              <a:t>i</a:t>
            </a:r>
            <a:r>
              <a:rPr lang="ko-KR" altLang="en-US" sz="2400" dirty="0"/>
              <a:t>일 때의 결과를 </a:t>
            </a:r>
            <a:r>
              <a:rPr lang="en-US" altLang="ko-KR" sz="2400" dirty="0"/>
              <a:t>memo[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</a:t>
            </a:r>
            <a:r>
              <a:rPr lang="ko-KR" altLang="en-US" sz="2400" dirty="0"/>
              <a:t>저장하면서 </a:t>
            </a:r>
            <a:r>
              <a:rPr lang="en-US" altLang="ko-KR" sz="2400" dirty="0"/>
              <a:t>3</a:t>
            </a:r>
            <a:r>
              <a:rPr lang="ko-KR" altLang="en-US" sz="2400" dirty="0"/>
              <a:t>부터 </a:t>
            </a:r>
            <a:r>
              <a:rPr lang="en-US" altLang="ko-KR" sz="2400" dirty="0"/>
              <a:t>n</a:t>
            </a:r>
            <a:r>
              <a:rPr lang="ko-KR" altLang="en-US" sz="2400" dirty="0"/>
              <a:t>까지 계산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106346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27872-B9F9-2C62-C53E-45BA1C9CB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E797F-335E-4315-741A-864160B3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 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44DA8C-3D67-05AA-8824-CE372F700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포도주 시식</a:t>
            </a:r>
            <a:r>
              <a:rPr lang="en-US" altLang="ko-KR" sz="2400" dirty="0"/>
              <a:t>: https://www.acmicpc.net/problem/2156</a:t>
            </a:r>
          </a:p>
          <a:p>
            <a:pPr lvl="1"/>
            <a:r>
              <a:rPr lang="ko-KR" altLang="en-US" sz="2000" dirty="0"/>
              <a:t>예시 답변 </a:t>
            </a:r>
            <a:r>
              <a:rPr lang="en-US" altLang="ko-KR" sz="2000" dirty="0"/>
              <a:t>: </a:t>
            </a:r>
            <a:r>
              <a:rPr lang="en-US" altLang="ko-KR" sz="2000" dirty="0">
                <a:hlinkClick r:id="rId2"/>
              </a:rPr>
              <a:t>http://boj.kr/4bd578782be94743ab1c4f05198438ea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289289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07BA1-7D43-6951-FB4E-96C6BDC8F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CC8847-DA55-5329-F5FA-4110F07DB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 </a:t>
            </a:r>
            <a:r>
              <a:rPr lang="en-US" altLang="ko-KR" dirty="0"/>
              <a:t>2 </a:t>
            </a:r>
            <a:r>
              <a:rPr lang="ko-KR" altLang="en-US" dirty="0"/>
              <a:t>해설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FBABB-F39E-7CD5-1A91-13D2CA233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 err="1"/>
              <a:t>점화식</a:t>
            </a:r>
            <a:r>
              <a:rPr lang="ko-KR" altLang="en-US" sz="2400" dirty="0"/>
              <a:t> 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dp</a:t>
            </a:r>
            <a:r>
              <a:rPr lang="en-US" altLang="ko-KR" sz="2400" dirty="0"/>
              <a:t>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 = max(</a:t>
            </a:r>
            <a:r>
              <a:rPr lang="en-US" altLang="ko-KR" sz="2400" dirty="0" err="1"/>
              <a:t>dp</a:t>
            </a:r>
            <a:r>
              <a:rPr lang="en-US" altLang="ko-KR" sz="2400" dirty="0"/>
              <a:t>[i-2], </a:t>
            </a:r>
            <a:r>
              <a:rPr lang="en-US" altLang="ko-KR" sz="2400" dirty="0" err="1"/>
              <a:t>dp</a:t>
            </a:r>
            <a:r>
              <a:rPr lang="en-US" altLang="ko-KR" sz="2400" dirty="0"/>
              <a:t>[i-3]+a[i-1]) + a[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</a:t>
            </a:r>
          </a:p>
          <a:p>
            <a:endParaRPr lang="en-US" altLang="ko-KR" sz="2400" dirty="0"/>
          </a:p>
          <a:p>
            <a:r>
              <a:rPr lang="en-US" altLang="ko-KR" sz="2400" dirty="0"/>
              <a:t>base:</a:t>
            </a:r>
            <a:r>
              <a:rPr lang="ko-KR" altLang="en-US" sz="2400" dirty="0"/>
              <a:t> </a:t>
            </a:r>
            <a:r>
              <a:rPr lang="en-US" altLang="ko-KR" sz="2400" dirty="0" err="1"/>
              <a:t>dp</a:t>
            </a:r>
            <a:r>
              <a:rPr lang="en-US" altLang="ko-KR" sz="2400" dirty="0"/>
              <a:t>[0]=0, </a:t>
            </a:r>
            <a:r>
              <a:rPr lang="en-US" altLang="ko-KR" sz="2400" dirty="0" err="1"/>
              <a:t>dp</a:t>
            </a:r>
            <a:r>
              <a:rPr lang="en-US" altLang="ko-KR" sz="2400" dirty="0"/>
              <a:t>[1]=a[1], </a:t>
            </a:r>
            <a:r>
              <a:rPr lang="en-US" altLang="ko-KR" sz="2400" dirty="0" err="1"/>
              <a:t>dp</a:t>
            </a:r>
            <a:r>
              <a:rPr lang="en-US" altLang="ko-KR" sz="2400" dirty="0"/>
              <a:t>[2]=a[1]+a[2]</a:t>
            </a:r>
          </a:p>
        </p:txBody>
      </p:sp>
    </p:spTree>
    <p:extLst>
      <p:ext uri="{BB962C8B-B14F-4D97-AF65-F5344CB8AC3E}">
        <p14:creationId xmlns:p14="http://schemas.microsoft.com/office/powerpoint/2010/main" val="3370885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9BC5D-EB09-7588-E9FF-C962643DB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6B9A9-D4FF-9692-41BB-E8BDAC5CE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 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72553C-8245-A98C-2426-2F7BB0DC3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평범한 배낭 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2"/>
              </a:rPr>
              <a:t>https://www.acmicpc.net/problem/12865</a:t>
            </a:r>
            <a:endParaRPr lang="en-US" altLang="ko-KR" sz="2400" dirty="0"/>
          </a:p>
          <a:p>
            <a:pPr lvl="1"/>
            <a:r>
              <a:rPr lang="ko-KR" altLang="en-US" sz="2000" dirty="0"/>
              <a:t>예시 답안 </a:t>
            </a:r>
            <a:r>
              <a:rPr lang="en-US" altLang="ko-KR" sz="2000" dirty="0"/>
              <a:t>: </a:t>
            </a:r>
            <a:r>
              <a:rPr lang="en-US" altLang="ko-KR" sz="2000" dirty="0">
                <a:hlinkClick r:id="rId3"/>
              </a:rPr>
              <a:t>http://boj.kr/2ee43aa071bd44c598cd72f08c1c6f82</a:t>
            </a:r>
            <a:endParaRPr lang="en-US" altLang="ko-KR" sz="2000" dirty="0"/>
          </a:p>
          <a:p>
            <a:pPr lvl="1"/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660958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5944E-3659-4E18-5D0A-3204388A0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9E5153-2C93-B360-0567-FA33989C6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 </a:t>
            </a:r>
            <a:r>
              <a:rPr lang="en-US" altLang="ko-KR" dirty="0"/>
              <a:t>3 </a:t>
            </a:r>
            <a:r>
              <a:rPr lang="ko-KR" altLang="en-US" dirty="0"/>
              <a:t>해설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A18697-E328-2208-7872-71C945484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/>
              <a:t>dp</a:t>
            </a:r>
            <a:r>
              <a:rPr lang="en-US" altLang="ko-KR" sz="2400" dirty="0"/>
              <a:t>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][j]:</a:t>
            </a:r>
            <a:r>
              <a:rPr lang="ko-KR" altLang="en-US" sz="2400" dirty="0"/>
              <a:t> </a:t>
            </a:r>
            <a:r>
              <a:rPr lang="en-US" altLang="ko-KR" sz="2400" dirty="0" err="1"/>
              <a:t>i</a:t>
            </a:r>
            <a:r>
              <a:rPr lang="ko-KR" altLang="en-US" sz="2400" dirty="0"/>
              <a:t>번째 물건까지 고려할 때</a:t>
            </a:r>
            <a:r>
              <a:rPr lang="en-US" altLang="ko-KR" sz="2400" dirty="0"/>
              <a:t>, j </a:t>
            </a:r>
            <a:r>
              <a:rPr lang="ko-KR" altLang="en-US" sz="2400" dirty="0"/>
              <a:t>무게까지의 최대 가치</a:t>
            </a:r>
            <a:endParaRPr lang="en-US" altLang="ko-KR" sz="2400" dirty="0"/>
          </a:p>
          <a:p>
            <a:r>
              <a:rPr lang="ko-KR" altLang="en-US" sz="2400" dirty="0" err="1"/>
              <a:t>점화식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dp</a:t>
            </a:r>
            <a:r>
              <a:rPr lang="en-US" altLang="ko-KR" sz="2400" dirty="0"/>
              <a:t>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][j] = max(</a:t>
            </a:r>
            <a:r>
              <a:rPr lang="en-US" altLang="ko-KR" sz="2400" dirty="0" err="1"/>
              <a:t>dp</a:t>
            </a:r>
            <a:r>
              <a:rPr lang="en-US" altLang="ko-KR" sz="2400" dirty="0"/>
              <a:t>[i-1][j-w]+v, </a:t>
            </a:r>
            <a:r>
              <a:rPr lang="en-US" altLang="ko-KR" sz="2400" dirty="0" err="1"/>
              <a:t>dp</a:t>
            </a:r>
            <a:r>
              <a:rPr lang="en-US" altLang="ko-KR" sz="2400" dirty="0"/>
              <a:t>[i-1][j], </a:t>
            </a:r>
            <a:r>
              <a:rPr lang="en-US" altLang="ko-KR" sz="2400" dirty="0" err="1"/>
              <a:t>dp</a:t>
            </a:r>
            <a:r>
              <a:rPr lang="en-US" altLang="ko-KR" sz="2400" dirty="0"/>
              <a:t>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][j-1])</a:t>
            </a:r>
          </a:p>
          <a:p>
            <a:endParaRPr lang="en-US" altLang="ko-KR" sz="2400" dirty="0"/>
          </a:p>
          <a:p>
            <a:r>
              <a:rPr lang="en-US" altLang="ko-KR" sz="2400" dirty="0"/>
              <a:t>base: </a:t>
            </a:r>
            <a:r>
              <a:rPr lang="en-US" altLang="ko-KR" sz="2400" dirty="0" err="1"/>
              <a:t>dp</a:t>
            </a:r>
            <a:r>
              <a:rPr lang="en-US" altLang="ko-KR" sz="2400" dirty="0"/>
              <a:t>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][j]=0</a:t>
            </a:r>
          </a:p>
        </p:txBody>
      </p:sp>
    </p:spTree>
    <p:extLst>
      <p:ext uri="{BB962C8B-B14F-4D97-AF65-F5344CB8AC3E}">
        <p14:creationId xmlns:p14="http://schemas.microsoft.com/office/powerpoint/2010/main" val="3006334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7D3D-6962-208F-A147-3E66CB19A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398BFE-5D46-AE06-0DEA-C83CE20C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예시 </a:t>
            </a:r>
            <a:r>
              <a:rPr lang="en-US" altLang="ko-KR" dirty="0"/>
              <a:t>3 </a:t>
            </a:r>
            <a:r>
              <a:rPr lang="ko-KR" altLang="en-US"/>
              <a:t>해설</a:t>
            </a:r>
            <a:r>
              <a:rPr lang="en-US" altLang="ko-KR"/>
              <a:t> </a:t>
            </a:r>
            <a:r>
              <a:rPr lang="en-US" altLang="ko-KR" dirty="0"/>
              <a:t>– Improved Method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2D0EC4-2A7A-CE56-04BF-1653188B8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/>
              <a:t>dp</a:t>
            </a:r>
            <a:r>
              <a:rPr lang="en-US" altLang="ko-KR" sz="2400" dirty="0"/>
              <a:t>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]:</a:t>
            </a:r>
            <a:r>
              <a:rPr lang="ko-KR" altLang="en-US" sz="2400" dirty="0"/>
              <a:t> </a:t>
            </a:r>
            <a:r>
              <a:rPr lang="en-US" altLang="ko-KR" sz="2400" dirty="0" err="1"/>
              <a:t>i</a:t>
            </a:r>
            <a:r>
              <a:rPr lang="en-US" altLang="ko-KR" sz="2400" dirty="0"/>
              <a:t> </a:t>
            </a:r>
            <a:r>
              <a:rPr lang="ko-KR" altLang="en-US" sz="2400" dirty="0"/>
              <a:t>무게까지의 최대 가치</a:t>
            </a:r>
            <a:endParaRPr lang="en-US" altLang="ko-KR" sz="2400" dirty="0"/>
          </a:p>
          <a:p>
            <a:r>
              <a:rPr lang="ko-KR" altLang="en-US" sz="2400" dirty="0" err="1"/>
              <a:t>점화식</a:t>
            </a:r>
            <a:r>
              <a:rPr lang="en-US" altLang="ko-KR" sz="2400" dirty="0"/>
              <a:t>: </a:t>
            </a:r>
            <a:r>
              <a:rPr lang="en-US" altLang="ko-KR" sz="2400" dirty="0" err="1"/>
              <a:t>dp</a:t>
            </a:r>
            <a:r>
              <a:rPr lang="en-US" altLang="ko-KR" sz="2400" dirty="0"/>
              <a:t>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 = max(</a:t>
            </a:r>
            <a:r>
              <a:rPr lang="en-US" altLang="ko-KR" sz="2400" dirty="0" err="1"/>
              <a:t>dp</a:t>
            </a:r>
            <a:r>
              <a:rPr lang="en-US" altLang="ko-KR" sz="2400" dirty="0"/>
              <a:t>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-w]+v, </a:t>
            </a:r>
            <a:r>
              <a:rPr lang="en-US" altLang="ko-KR" sz="2400" dirty="0" err="1"/>
              <a:t>dp</a:t>
            </a:r>
            <a:r>
              <a:rPr lang="en-US" altLang="ko-KR" sz="2400" dirty="0"/>
              <a:t>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]) (</a:t>
            </a:r>
            <a:r>
              <a:rPr lang="ko-KR" altLang="en-US" sz="2400" dirty="0"/>
              <a:t>뒤에서부터</a:t>
            </a:r>
            <a:r>
              <a:rPr lang="en-US" altLang="ko-KR" sz="2400" dirty="0"/>
              <a:t>)</a:t>
            </a:r>
          </a:p>
          <a:p>
            <a:endParaRPr lang="en-US" altLang="ko-KR" sz="2400" dirty="0"/>
          </a:p>
          <a:p>
            <a:r>
              <a:rPr lang="en-US" altLang="ko-KR" sz="2400" dirty="0"/>
              <a:t>base: </a:t>
            </a:r>
            <a:r>
              <a:rPr lang="en-US" altLang="ko-KR" sz="2400" dirty="0" err="1"/>
              <a:t>dp</a:t>
            </a:r>
            <a:r>
              <a:rPr lang="en-US" altLang="ko-KR" sz="2400" dirty="0"/>
              <a:t>[</a:t>
            </a:r>
            <a:r>
              <a:rPr lang="en-US" altLang="ko-KR" sz="2400" dirty="0" err="1"/>
              <a:t>i</a:t>
            </a:r>
            <a:r>
              <a:rPr lang="en-US" altLang="ko-KR" sz="2400" dirty="0"/>
              <a:t>]=0</a:t>
            </a:r>
          </a:p>
        </p:txBody>
      </p:sp>
    </p:spTree>
    <p:extLst>
      <p:ext uri="{BB962C8B-B14F-4D97-AF65-F5344CB8AC3E}">
        <p14:creationId xmlns:p14="http://schemas.microsoft.com/office/powerpoint/2010/main" val="736471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1881</TotalTime>
  <Words>509</Words>
  <Application>Microsoft Office PowerPoint</Application>
  <PresentationFormat>와이드스크린</PresentationFormat>
  <Paragraphs>63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자구&amp;알고 스터디</vt:lpstr>
      <vt:lpstr>동적 계획법</vt:lpstr>
      <vt:lpstr>동적 계획법</vt:lpstr>
      <vt:lpstr>동적 계획법</vt:lpstr>
      <vt:lpstr>동적 계획법</vt:lpstr>
      <vt:lpstr>동적 계획법</vt:lpstr>
      <vt:lpstr>예시 1</vt:lpstr>
      <vt:lpstr>예시 1 해설</vt:lpstr>
      <vt:lpstr>예시 2</vt:lpstr>
      <vt:lpstr>예시 2 해설</vt:lpstr>
      <vt:lpstr>예시 3</vt:lpstr>
      <vt:lpstr>예시 3 해설</vt:lpstr>
      <vt:lpstr>예시 3 해설 – Improved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이태규</dc:creator>
  <cp:lastModifiedBy>이태규</cp:lastModifiedBy>
  <cp:revision>543</cp:revision>
  <dcterms:created xsi:type="dcterms:W3CDTF">2025-09-07T07:21:38Z</dcterms:created>
  <dcterms:modified xsi:type="dcterms:W3CDTF">2025-11-02T20:19:24Z</dcterms:modified>
</cp:coreProperties>
</file>